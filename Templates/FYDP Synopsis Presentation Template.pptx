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5"/>
  </p:notesMasterIdLst>
  <p:sldIdLst>
    <p:sldId id="258" r:id="rId2"/>
    <p:sldId id="257" r:id="rId3"/>
    <p:sldId id="271" r:id="rId4"/>
    <p:sldId id="294" r:id="rId5"/>
    <p:sldId id="297" r:id="rId6"/>
    <p:sldId id="296" r:id="rId7"/>
    <p:sldId id="283" r:id="rId8"/>
    <p:sldId id="298" r:id="rId9"/>
    <p:sldId id="287" r:id="rId10"/>
    <p:sldId id="289" r:id="rId11"/>
    <p:sldId id="295" r:id="rId12"/>
    <p:sldId id="292" r:id="rId13"/>
    <p:sldId id="293"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56C4E65-D334-4B31-ADA9-454C7A1190EE}">
          <p14:sldIdLst>
            <p14:sldId id="258"/>
            <p14:sldId id="257"/>
            <p14:sldId id="271"/>
            <p14:sldId id="294"/>
            <p14:sldId id="297"/>
            <p14:sldId id="296"/>
            <p14:sldId id="283"/>
            <p14:sldId id="298"/>
            <p14:sldId id="287"/>
            <p14:sldId id="289"/>
            <p14:sldId id="295"/>
            <p14:sldId id="292"/>
            <p14:sldId id="293"/>
          </p14:sldIdLst>
        </p14:section>
      </p14:sectionLst>
    </p:ex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E477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000" autoAdjust="0"/>
    <p:restoredTop sz="94660"/>
  </p:normalViewPr>
  <p:slideViewPr>
    <p:cSldViewPr snapToGrid="0">
      <p:cViewPr>
        <p:scale>
          <a:sx n="88" d="100"/>
          <a:sy n="88" d="100"/>
        </p:scale>
        <p:origin x="494" y="6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A0A1D80-9E97-45C7-9957-52A927ACCA3A}" type="datetimeFigureOut">
              <a:rPr lang="en-US" smtClean="0"/>
              <a:t>10/8/2025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CB372F2-0A20-4196-ADAE-C7416BBFA642}" type="slidenum">
              <a:rPr lang="en-US" smtClean="0"/>
              <a:t>‹#›</a:t>
            </a:fld>
            <a:endParaRPr lang="en-US"/>
          </a:p>
        </p:txBody>
      </p:sp>
    </p:spTree>
    <p:extLst>
      <p:ext uri="{BB962C8B-B14F-4D97-AF65-F5344CB8AC3E}">
        <p14:creationId xmlns:p14="http://schemas.microsoft.com/office/powerpoint/2010/main" val="302731860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r>
              <a:rPr lang="en-US"/>
              <a:t>FYDP Synopsis Presentation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F9BE2-B59B-40AF-8442-47BAD161B662}" type="slidenum">
              <a:rPr lang="en-US" smtClean="0"/>
              <a:t>‹#›</a:t>
            </a:fld>
            <a:endParaRPr lang="en-US"/>
          </a:p>
        </p:txBody>
      </p:sp>
    </p:spTree>
    <p:extLst>
      <p:ext uri="{BB962C8B-B14F-4D97-AF65-F5344CB8AC3E}">
        <p14:creationId xmlns:p14="http://schemas.microsoft.com/office/powerpoint/2010/main" val="266552730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FYDP Synopsis Presentation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F9BE2-B59B-40AF-8442-47BAD161B662}" type="slidenum">
              <a:rPr lang="en-US" smtClean="0"/>
              <a:t>‹#›</a:t>
            </a:fld>
            <a:endParaRPr lang="en-US"/>
          </a:p>
        </p:txBody>
      </p:sp>
    </p:spTree>
    <p:extLst>
      <p:ext uri="{BB962C8B-B14F-4D97-AF65-F5344CB8AC3E}">
        <p14:creationId xmlns:p14="http://schemas.microsoft.com/office/powerpoint/2010/main" val="12712242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r>
              <a:rPr lang="en-US"/>
              <a:t>FYDP Synopsis Presentation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F9BE2-B59B-40AF-8442-47BAD161B662}" type="slidenum">
              <a:rPr lang="en-US" smtClean="0"/>
              <a:t>‹#›</a:t>
            </a:fld>
            <a:endParaRPr lang="en-US"/>
          </a:p>
        </p:txBody>
      </p:sp>
    </p:spTree>
    <p:extLst>
      <p:ext uri="{BB962C8B-B14F-4D97-AF65-F5344CB8AC3E}">
        <p14:creationId xmlns:p14="http://schemas.microsoft.com/office/powerpoint/2010/main" val="218608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r>
              <a:rPr lang="en-US"/>
              <a:t>FYDP Synopsis Presentation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7F9BE2-B59B-40AF-8442-47BAD161B662}" type="slidenum">
              <a:rPr lang="en-US" smtClean="0"/>
              <a:t>‹#›</a:t>
            </a:fld>
            <a:endParaRPr lang="en-US"/>
          </a:p>
        </p:txBody>
      </p:sp>
    </p:spTree>
    <p:extLst>
      <p:ext uri="{BB962C8B-B14F-4D97-AF65-F5344CB8AC3E}">
        <p14:creationId xmlns:p14="http://schemas.microsoft.com/office/powerpoint/2010/main" val="336254226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r>
              <a:rPr lang="en-US"/>
              <a:t>FYDP Synopsis Presentation</a:t>
            </a:r>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4B7F9BE2-B59B-40AF-8442-47BAD161B662}" type="slidenum">
              <a:rPr lang="en-US" smtClean="0"/>
              <a:t>‹#›</a:t>
            </a:fld>
            <a:endParaRPr lang="en-US"/>
          </a:p>
        </p:txBody>
      </p:sp>
    </p:spTree>
    <p:extLst>
      <p:ext uri="{BB962C8B-B14F-4D97-AF65-F5344CB8AC3E}">
        <p14:creationId xmlns:p14="http://schemas.microsoft.com/office/powerpoint/2010/main" val="29667217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r>
              <a:rPr lang="en-US"/>
              <a:t>FYDP Synopsis Presentation</a:t>
            </a:r>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4B7F9BE2-B59B-40AF-8442-47BAD161B662}" type="slidenum">
              <a:rPr lang="en-US" smtClean="0"/>
              <a:t>‹#›</a:t>
            </a:fld>
            <a:endParaRPr lang="en-US"/>
          </a:p>
        </p:txBody>
      </p:sp>
    </p:spTree>
    <p:extLst>
      <p:ext uri="{BB962C8B-B14F-4D97-AF65-F5344CB8AC3E}">
        <p14:creationId xmlns:p14="http://schemas.microsoft.com/office/powerpoint/2010/main" val="10200906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r>
              <a:rPr lang="en-US"/>
              <a:t>FYDP Synopsis Presentation</a:t>
            </a:r>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4B7F9BE2-B59B-40AF-8442-47BAD161B662}" type="slidenum">
              <a:rPr lang="en-US" smtClean="0"/>
              <a:t>‹#›</a:t>
            </a:fld>
            <a:endParaRPr lang="en-US"/>
          </a:p>
        </p:txBody>
      </p:sp>
    </p:spTree>
    <p:extLst>
      <p:ext uri="{BB962C8B-B14F-4D97-AF65-F5344CB8AC3E}">
        <p14:creationId xmlns:p14="http://schemas.microsoft.com/office/powerpoint/2010/main" val="26608146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FYDP Synopsis Presentation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7F9BE2-B59B-40AF-8442-47BAD161B662}" type="slidenum">
              <a:rPr lang="en-US" smtClean="0"/>
              <a:t>‹#›</a:t>
            </a:fld>
            <a:endParaRPr lang="en-US"/>
          </a:p>
        </p:txBody>
      </p:sp>
    </p:spTree>
    <p:extLst>
      <p:ext uri="{BB962C8B-B14F-4D97-AF65-F5344CB8AC3E}">
        <p14:creationId xmlns:p14="http://schemas.microsoft.com/office/powerpoint/2010/main" val="394304177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r>
              <a:rPr lang="en-US"/>
              <a:t>FYDP Synopsis Presentation</a:t>
            </a:r>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4B7F9BE2-B59B-40AF-8442-47BAD161B662}" type="slidenum">
              <a:rPr lang="en-US" smtClean="0"/>
              <a:t>‹#›</a:t>
            </a:fld>
            <a:endParaRPr lang="en-US"/>
          </a:p>
        </p:txBody>
      </p:sp>
    </p:spTree>
    <p:extLst>
      <p:ext uri="{BB962C8B-B14F-4D97-AF65-F5344CB8AC3E}">
        <p14:creationId xmlns:p14="http://schemas.microsoft.com/office/powerpoint/2010/main" val="260020596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FYDP Synopsis Presentation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F9BE2-B59B-40AF-8442-47BAD161B662}" type="slidenum">
              <a:rPr lang="en-US" smtClean="0"/>
              <a:t>‹#›</a:t>
            </a:fld>
            <a:endParaRPr lang="en-US"/>
          </a:p>
        </p:txBody>
      </p:sp>
    </p:spTree>
    <p:extLst>
      <p:ext uri="{BB962C8B-B14F-4D97-AF65-F5344CB8AC3E}">
        <p14:creationId xmlns:p14="http://schemas.microsoft.com/office/powerpoint/2010/main" val="39451437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r>
              <a:rPr lang="en-US"/>
              <a:t>FYDP Synopsis Presentation</a:t>
            </a:r>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4B7F9BE2-B59B-40AF-8442-47BAD161B662}" type="slidenum">
              <a:rPr lang="en-US" smtClean="0"/>
              <a:t>‹#›</a:t>
            </a:fld>
            <a:endParaRPr lang="en-US"/>
          </a:p>
        </p:txBody>
      </p:sp>
    </p:spTree>
    <p:extLst>
      <p:ext uri="{BB962C8B-B14F-4D97-AF65-F5344CB8AC3E}">
        <p14:creationId xmlns:p14="http://schemas.microsoft.com/office/powerpoint/2010/main" val="374818396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r>
              <a:rPr lang="en-US"/>
              <a:t>FYDP Synopsis Presentation</a:t>
            </a:r>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B7F9BE2-B59B-40AF-8442-47BAD161B662}" type="slidenum">
              <a:rPr lang="en-US" smtClean="0"/>
              <a:t>‹#›</a:t>
            </a:fld>
            <a:endParaRPr lang="en-US"/>
          </a:p>
        </p:txBody>
      </p:sp>
    </p:spTree>
    <p:extLst>
      <p:ext uri="{BB962C8B-B14F-4D97-AF65-F5344CB8AC3E}">
        <p14:creationId xmlns:p14="http://schemas.microsoft.com/office/powerpoint/2010/main" val="16621363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jp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t="30495" r="95477"/>
          <a:stretch/>
        </p:blipFill>
        <p:spPr>
          <a:xfrm>
            <a:off x="-179544" y="0"/>
            <a:ext cx="630306" cy="6857999"/>
          </a:xfrm>
          <a:prstGeom prst="rect">
            <a:avLst/>
          </a:prstGeom>
        </p:spPr>
      </p:pic>
      <p:sp>
        <p:nvSpPr>
          <p:cNvPr id="6" name="TextBox 5"/>
          <p:cNvSpPr txBox="1"/>
          <p:nvPr/>
        </p:nvSpPr>
        <p:spPr>
          <a:xfrm>
            <a:off x="2568542" y="4795749"/>
            <a:ext cx="7603958" cy="1323439"/>
          </a:xfrm>
          <a:prstGeom prst="rect">
            <a:avLst/>
          </a:prstGeom>
          <a:noFill/>
        </p:spPr>
        <p:txBody>
          <a:bodyPr wrap="square" rtlCol="0">
            <a:spAutoFit/>
          </a:bodyPr>
          <a:lstStyle/>
          <a:p>
            <a:pPr algn="ctr"/>
            <a:r>
              <a:rPr lang="en-US" sz="2000" dirty="0">
                <a:solidFill>
                  <a:schemeClr val="bg1">
                    <a:lumMod val="50000"/>
                  </a:schemeClr>
                </a:solidFill>
              </a:rPr>
              <a:t>Department of Electrical Engineering,</a:t>
            </a:r>
          </a:p>
          <a:p>
            <a:pPr algn="ctr"/>
            <a:r>
              <a:rPr lang="en-US" sz="2000" dirty="0">
                <a:solidFill>
                  <a:schemeClr val="bg1">
                    <a:lumMod val="50000"/>
                  </a:schemeClr>
                </a:solidFill>
              </a:rPr>
              <a:t>University of Engineering and Technology Lahore</a:t>
            </a:r>
          </a:p>
          <a:p>
            <a:pPr algn="ctr"/>
            <a:endParaRPr lang="en-US" sz="2000" dirty="0">
              <a:solidFill>
                <a:schemeClr val="bg1">
                  <a:lumMod val="50000"/>
                </a:schemeClr>
              </a:solidFill>
            </a:endParaRPr>
          </a:p>
          <a:p>
            <a:pPr algn="ctr"/>
            <a:r>
              <a:rPr lang="en-US" sz="1700" dirty="0" smtClean="0">
                <a:solidFill>
                  <a:schemeClr val="bg1">
                    <a:lumMod val="50000"/>
                  </a:schemeClr>
                </a:solidFill>
              </a:rPr>
              <a:t>October, 2025</a:t>
            </a:r>
            <a:endParaRPr lang="en-US" sz="1700" dirty="0">
              <a:solidFill>
                <a:schemeClr val="bg1">
                  <a:lumMod val="50000"/>
                </a:schemeClr>
              </a:solidFill>
            </a:endParaRPr>
          </a:p>
        </p:txBody>
      </p:sp>
      <p:sp>
        <p:nvSpPr>
          <p:cNvPr id="8" name="Title 1"/>
          <p:cNvSpPr>
            <a:spLocks noGrp="1"/>
          </p:cNvSpPr>
          <p:nvPr>
            <p:ph type="ctrTitle"/>
          </p:nvPr>
        </p:nvSpPr>
        <p:spPr>
          <a:xfrm>
            <a:off x="798641" y="1631313"/>
            <a:ext cx="11143759" cy="1357921"/>
          </a:xfrm>
        </p:spPr>
        <p:txBody>
          <a:bodyPr anchor="ctr" anchorCtr="0">
            <a:normAutofit fontScale="90000"/>
          </a:bodyPr>
          <a:lstStyle/>
          <a:p>
            <a:r>
              <a:rPr lang="en-US" sz="4800" dirty="0" smtClean="0">
                <a:solidFill>
                  <a:srgbClr val="1E477B"/>
                </a:solidFill>
                <a:latin typeface="Times New Roman" panose="02020603050405020304" pitchFamily="18" charset="0"/>
                <a:cs typeface="Times New Roman" panose="02020603050405020304" pitchFamily="18" charset="0"/>
              </a:rPr>
              <a:t>Design and Implementation of a RISC-V based Superscalar Processor</a:t>
            </a:r>
            <a:endParaRPr lang="en-US" sz="4800" dirty="0">
              <a:solidFill>
                <a:srgbClr val="1E477B"/>
              </a:solidFill>
              <a:latin typeface="Times New Roman" panose="02020603050405020304" pitchFamily="18" charset="0"/>
              <a:cs typeface="Times New Roman" panose="02020603050405020304" pitchFamily="18" charset="0"/>
            </a:endParaRPr>
          </a:p>
        </p:txBody>
      </p:sp>
      <p:sp>
        <p:nvSpPr>
          <p:cNvPr id="9" name="Subtitle 2"/>
          <p:cNvSpPr>
            <a:spLocks noGrp="1"/>
          </p:cNvSpPr>
          <p:nvPr>
            <p:ph type="subTitle" idx="1"/>
          </p:nvPr>
        </p:nvSpPr>
        <p:spPr>
          <a:xfrm>
            <a:off x="2315879" y="651051"/>
            <a:ext cx="7772400" cy="461665"/>
          </a:xfrm>
        </p:spPr>
        <p:txBody>
          <a:bodyPr>
            <a:normAutofit/>
          </a:bodyPr>
          <a:lstStyle/>
          <a:p>
            <a:r>
              <a:rPr lang="en-US" dirty="0">
                <a:latin typeface="Times New Roman" panose="02020603050405020304" pitchFamily="18" charset="0"/>
                <a:cs typeface="Times New Roman" panose="02020603050405020304" pitchFamily="18" charset="0"/>
              </a:rPr>
              <a:t>FYDP Group No.: </a:t>
            </a:r>
            <a:r>
              <a:rPr lang="en-US" dirty="0" smtClean="0">
                <a:latin typeface="Times New Roman" panose="02020603050405020304" pitchFamily="18" charset="0"/>
                <a:cs typeface="Times New Roman" panose="02020603050405020304" pitchFamily="18" charset="0"/>
              </a:rPr>
              <a:t>16</a:t>
            </a:r>
            <a:endParaRPr lang="en-US" dirty="0">
              <a:latin typeface="Times New Roman" panose="02020603050405020304" pitchFamily="18" charset="0"/>
              <a:cs typeface="Times New Roman" panose="02020603050405020304" pitchFamily="18" charset="0"/>
            </a:endParaRPr>
          </a:p>
        </p:txBody>
      </p:sp>
      <p:sp>
        <p:nvSpPr>
          <p:cNvPr id="10" name="Subtitle 2"/>
          <p:cNvSpPr txBox="1">
            <a:spLocks/>
          </p:cNvSpPr>
          <p:nvPr/>
        </p:nvSpPr>
        <p:spPr>
          <a:xfrm>
            <a:off x="2484321" y="3776483"/>
            <a:ext cx="7772400" cy="43356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r>
              <a:rPr lang="en-US" sz="2000" dirty="0">
                <a:latin typeface="Times New Roman" panose="02020603050405020304" pitchFamily="18" charset="0"/>
                <a:cs typeface="Times New Roman" panose="02020603050405020304" pitchFamily="18" charset="0"/>
              </a:rPr>
              <a:t>Project Supervisor</a:t>
            </a:r>
            <a:r>
              <a:rPr lang="en-US" sz="2000" dirty="0" smtClean="0">
                <a:latin typeface="Times New Roman" panose="02020603050405020304" pitchFamily="18" charset="0"/>
                <a:cs typeface="Times New Roman" panose="02020603050405020304" pitchFamily="18" charset="0"/>
              </a:rPr>
              <a:t>: Ms. Bareera Sadia</a:t>
            </a:r>
            <a:endParaRPr lang="en-US" sz="2000" dirty="0">
              <a:latin typeface="Times New Roman" panose="02020603050405020304" pitchFamily="18" charset="0"/>
              <a:cs typeface="Times New Roman" panose="02020603050405020304" pitchFamily="18" charset="0"/>
            </a:endParaRPr>
          </a:p>
        </p:txBody>
      </p:sp>
      <p:sp>
        <p:nvSpPr>
          <p:cNvPr id="2" name="Date Placeholder 1">
            <a:extLst>
              <a:ext uri="{FF2B5EF4-FFF2-40B4-BE49-F238E27FC236}">
                <a16:creationId xmlns:a16="http://schemas.microsoft.com/office/drawing/2014/main" id="{106CB914-92E3-4770-AD65-92CA6ECC30B8}"/>
              </a:ext>
            </a:extLst>
          </p:cNvPr>
          <p:cNvSpPr>
            <a:spLocks noGrp="1"/>
          </p:cNvSpPr>
          <p:nvPr>
            <p:ph type="dt" sz="half" idx="10"/>
          </p:nvPr>
        </p:nvSpPr>
        <p:spPr>
          <a:xfrm>
            <a:off x="464976" y="6421667"/>
            <a:ext cx="4069701" cy="365125"/>
          </a:xfrm>
        </p:spPr>
        <p:txBody>
          <a:bodyPr/>
          <a:lstStyle/>
          <a:p>
            <a:r>
              <a:rPr lang="en-US" dirty="0"/>
              <a:t>FYDP Synopsis Presentation</a:t>
            </a:r>
          </a:p>
        </p:txBody>
      </p:sp>
      <p:sp>
        <p:nvSpPr>
          <p:cNvPr id="3" name="Slide Number Placeholder 2">
            <a:extLst>
              <a:ext uri="{FF2B5EF4-FFF2-40B4-BE49-F238E27FC236}">
                <a16:creationId xmlns:a16="http://schemas.microsoft.com/office/drawing/2014/main" id="{2563C7A5-4ECE-4138-8605-4B526ACA87DC}"/>
              </a:ext>
            </a:extLst>
          </p:cNvPr>
          <p:cNvSpPr>
            <a:spLocks noGrp="1"/>
          </p:cNvSpPr>
          <p:nvPr>
            <p:ph type="sldNum" sz="quarter" idx="12"/>
          </p:nvPr>
        </p:nvSpPr>
        <p:spPr>
          <a:xfrm>
            <a:off x="9394368" y="6430998"/>
            <a:ext cx="2743200" cy="365125"/>
          </a:xfrm>
        </p:spPr>
        <p:txBody>
          <a:bodyPr/>
          <a:lstStyle/>
          <a:p>
            <a:fld id="{4B7F9BE2-B59B-40AF-8442-47BAD161B662}" type="slidenum">
              <a:rPr lang="en-US" smtClean="0"/>
              <a:t>1</a:t>
            </a:fld>
            <a:endParaRPr lang="en-US" dirty="0"/>
          </a:p>
        </p:txBody>
      </p:sp>
      <p:pic>
        <p:nvPicPr>
          <p:cNvPr id="13" name="Picture 12">
            <a:extLst>
              <a:ext uri="{FF2B5EF4-FFF2-40B4-BE49-F238E27FC236}">
                <a16:creationId xmlns:a16="http://schemas.microsoft.com/office/drawing/2014/main" id="{239EC81E-890B-431D-ABBF-686DE418974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54877" y="188954"/>
            <a:ext cx="842171" cy="847135"/>
          </a:xfrm>
          <a:prstGeom prst="rect">
            <a:avLst/>
          </a:prstGeom>
        </p:spPr>
      </p:pic>
    </p:spTree>
    <p:extLst>
      <p:ext uri="{BB962C8B-B14F-4D97-AF65-F5344CB8AC3E}">
        <p14:creationId xmlns:p14="http://schemas.microsoft.com/office/powerpoint/2010/main" val="316336901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t="30495" r="95477"/>
          <a:stretch/>
        </p:blipFill>
        <p:spPr>
          <a:xfrm>
            <a:off x="-179544" y="0"/>
            <a:ext cx="630306" cy="6857999"/>
          </a:xfrm>
          <a:prstGeom prst="rect">
            <a:avLst/>
          </a:prstGeom>
        </p:spPr>
      </p:pic>
      <p:sp>
        <p:nvSpPr>
          <p:cNvPr id="8" name="Title 1"/>
          <p:cNvSpPr>
            <a:spLocks noGrp="1"/>
          </p:cNvSpPr>
          <p:nvPr>
            <p:ph type="ctrTitle"/>
          </p:nvPr>
        </p:nvSpPr>
        <p:spPr>
          <a:xfrm>
            <a:off x="746974" y="483119"/>
            <a:ext cx="4885385" cy="758662"/>
          </a:xfrm>
        </p:spPr>
        <p:txBody>
          <a:bodyPr anchor="ctr" anchorCtr="0">
            <a:normAutofit fontScale="90000"/>
          </a:bodyPr>
          <a:lstStyle/>
          <a:p>
            <a:pPr algn="just"/>
            <a:r>
              <a:rPr lang="en-US" sz="4800" dirty="0">
                <a:solidFill>
                  <a:srgbClr val="1E477B"/>
                </a:solidFill>
                <a:latin typeface="Times New Roman" panose="02020603050405020304" pitchFamily="18" charset="0"/>
                <a:cs typeface="Times New Roman" panose="02020603050405020304" pitchFamily="18" charset="0"/>
              </a:rPr>
              <a:t>Group Introduction</a:t>
            </a:r>
          </a:p>
        </p:txBody>
      </p:sp>
      <p:sp>
        <p:nvSpPr>
          <p:cNvPr id="10" name="Subtitle 2"/>
          <p:cNvSpPr txBox="1">
            <a:spLocks/>
          </p:cNvSpPr>
          <p:nvPr/>
        </p:nvSpPr>
        <p:spPr>
          <a:xfrm>
            <a:off x="1217433" y="1929856"/>
            <a:ext cx="5303949" cy="138525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dirty="0" smtClean="0">
                <a:latin typeface="Times New Roman" panose="02020603050405020304" pitchFamily="18" charset="0"/>
                <a:cs typeface="Times New Roman" panose="02020603050405020304" pitchFamily="18" charset="0"/>
              </a:rPr>
              <a:t>Muhammad Furrukh </a:t>
            </a:r>
            <a:r>
              <a:rPr lang="en-US" dirty="0">
                <a:latin typeface="Times New Roman" panose="02020603050405020304" pitchFamily="18" charset="0"/>
                <a:cs typeface="Times New Roman" panose="02020603050405020304" pitchFamily="18" charset="0"/>
              </a:rPr>
              <a:t>(Group Leader)</a:t>
            </a:r>
          </a:p>
          <a:p>
            <a:pPr algn="just"/>
            <a:r>
              <a:rPr lang="en-US" dirty="0" smtClean="0">
                <a:solidFill>
                  <a:schemeClr val="bg1">
                    <a:lumMod val="50000"/>
                  </a:schemeClr>
                </a:solidFill>
                <a:latin typeface="Times New Roman" panose="02020603050405020304" pitchFamily="18" charset="0"/>
                <a:cs typeface="Times New Roman" panose="02020603050405020304" pitchFamily="18" charset="0"/>
              </a:rPr>
              <a:t>2022-EE-111</a:t>
            </a:r>
            <a:endParaRPr lang="en-US" dirty="0">
              <a:solidFill>
                <a:schemeClr val="bg1">
                  <a:lumMod val="50000"/>
                </a:schemeClr>
              </a:solidFill>
              <a:latin typeface="Times New Roman" panose="02020603050405020304" pitchFamily="18" charset="0"/>
              <a:cs typeface="Times New Roman" panose="02020603050405020304" pitchFamily="18" charset="0"/>
            </a:endParaRPr>
          </a:p>
          <a:p>
            <a:pPr algn="just"/>
            <a:r>
              <a:rPr lang="en-US" dirty="0">
                <a:solidFill>
                  <a:schemeClr val="bg1">
                    <a:lumMod val="50000"/>
                  </a:schemeClr>
                </a:solidFill>
                <a:latin typeface="Times New Roman" panose="02020603050405020304" pitchFamily="18" charset="0"/>
                <a:cs typeface="Times New Roman" panose="02020603050405020304" pitchFamily="18" charset="0"/>
              </a:rPr>
              <a:t>Specialization:</a:t>
            </a:r>
          </a:p>
        </p:txBody>
      </p:sp>
      <p:sp>
        <p:nvSpPr>
          <p:cNvPr id="17" name="Subtitle 2"/>
          <p:cNvSpPr txBox="1">
            <a:spLocks/>
          </p:cNvSpPr>
          <p:nvPr/>
        </p:nvSpPr>
        <p:spPr>
          <a:xfrm>
            <a:off x="1217433" y="3726212"/>
            <a:ext cx="4688845" cy="138525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dirty="0" smtClean="0">
                <a:latin typeface="Times New Roman" panose="02020603050405020304" pitchFamily="18" charset="0"/>
                <a:cs typeface="Times New Roman" panose="02020603050405020304" pitchFamily="18" charset="0"/>
              </a:rPr>
              <a:t>Saima Khalil</a:t>
            </a:r>
            <a:endParaRPr lang="en-US" dirty="0">
              <a:latin typeface="Times New Roman" panose="02020603050405020304" pitchFamily="18" charset="0"/>
              <a:cs typeface="Times New Roman" panose="02020603050405020304" pitchFamily="18" charset="0"/>
            </a:endParaRPr>
          </a:p>
          <a:p>
            <a:pPr algn="just"/>
            <a:r>
              <a:rPr lang="en-US" dirty="0" smtClean="0">
                <a:solidFill>
                  <a:schemeClr val="bg1">
                    <a:lumMod val="50000"/>
                  </a:schemeClr>
                </a:solidFill>
                <a:latin typeface="Times New Roman" panose="02020603050405020304" pitchFamily="18" charset="0"/>
                <a:cs typeface="Times New Roman" panose="02020603050405020304" pitchFamily="18" charset="0"/>
              </a:rPr>
              <a:t>2022-CD-EE-001</a:t>
            </a:r>
            <a:endParaRPr lang="en-US" dirty="0">
              <a:solidFill>
                <a:schemeClr val="bg1">
                  <a:lumMod val="50000"/>
                </a:schemeClr>
              </a:solidFill>
              <a:latin typeface="Times New Roman" panose="02020603050405020304" pitchFamily="18" charset="0"/>
              <a:cs typeface="Times New Roman" panose="02020603050405020304" pitchFamily="18" charset="0"/>
            </a:endParaRPr>
          </a:p>
          <a:p>
            <a:pPr algn="just"/>
            <a:r>
              <a:rPr lang="en-US" dirty="0">
                <a:solidFill>
                  <a:schemeClr val="bg1">
                    <a:lumMod val="50000"/>
                  </a:schemeClr>
                </a:solidFill>
                <a:latin typeface="Times New Roman" panose="02020603050405020304" pitchFamily="18" charset="0"/>
                <a:cs typeface="Times New Roman" panose="02020603050405020304" pitchFamily="18" charset="0"/>
              </a:rPr>
              <a:t>Specialization:</a:t>
            </a: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54877" y="188954"/>
            <a:ext cx="842171" cy="847135"/>
          </a:xfrm>
          <a:prstGeom prst="rect">
            <a:avLst/>
          </a:prstGeom>
        </p:spPr>
      </p:pic>
      <p:sp>
        <p:nvSpPr>
          <p:cNvPr id="3" name="Slide Number Placeholder 2">
            <a:extLst>
              <a:ext uri="{FF2B5EF4-FFF2-40B4-BE49-F238E27FC236}">
                <a16:creationId xmlns:a16="http://schemas.microsoft.com/office/drawing/2014/main" id="{5F45FAAC-C329-4D41-86EE-F09A19B73ED2}"/>
              </a:ext>
            </a:extLst>
          </p:cNvPr>
          <p:cNvSpPr>
            <a:spLocks noGrp="1"/>
          </p:cNvSpPr>
          <p:nvPr>
            <p:ph type="sldNum" sz="quarter" idx="12"/>
          </p:nvPr>
        </p:nvSpPr>
        <p:spPr>
          <a:xfrm>
            <a:off x="9394370" y="6430998"/>
            <a:ext cx="2743200" cy="365125"/>
          </a:xfrm>
        </p:spPr>
        <p:txBody>
          <a:bodyPr/>
          <a:lstStyle/>
          <a:p>
            <a:fld id="{4B7F9BE2-B59B-40AF-8442-47BAD161B662}" type="slidenum">
              <a:rPr lang="en-US" smtClean="0"/>
              <a:t>2</a:t>
            </a:fld>
            <a:endParaRPr lang="en-US" dirty="0"/>
          </a:p>
        </p:txBody>
      </p:sp>
      <p:sp>
        <p:nvSpPr>
          <p:cNvPr id="12" name="Subtitle 2">
            <a:extLst>
              <a:ext uri="{FF2B5EF4-FFF2-40B4-BE49-F238E27FC236}">
                <a16:creationId xmlns:a16="http://schemas.microsoft.com/office/drawing/2014/main" id="{5BAC94B7-7ECC-470B-9A07-F1E70CF24314}"/>
              </a:ext>
            </a:extLst>
          </p:cNvPr>
          <p:cNvSpPr txBox="1">
            <a:spLocks/>
          </p:cNvSpPr>
          <p:nvPr/>
        </p:nvSpPr>
        <p:spPr>
          <a:xfrm>
            <a:off x="7198361" y="1929856"/>
            <a:ext cx="4688845" cy="138525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dirty="0" smtClean="0">
                <a:latin typeface="Times New Roman" panose="02020603050405020304" pitchFamily="18" charset="0"/>
                <a:cs typeface="Times New Roman" panose="02020603050405020304" pitchFamily="18" charset="0"/>
              </a:rPr>
              <a:t>Syed Abdul Rehman</a:t>
            </a:r>
            <a:endParaRPr lang="en-US" dirty="0">
              <a:latin typeface="Times New Roman" panose="02020603050405020304" pitchFamily="18" charset="0"/>
              <a:cs typeface="Times New Roman" panose="02020603050405020304" pitchFamily="18" charset="0"/>
            </a:endParaRPr>
          </a:p>
          <a:p>
            <a:pPr algn="just"/>
            <a:r>
              <a:rPr lang="en-US" dirty="0" smtClean="0">
                <a:solidFill>
                  <a:schemeClr val="bg1">
                    <a:lumMod val="50000"/>
                  </a:schemeClr>
                </a:solidFill>
                <a:latin typeface="Times New Roman" panose="02020603050405020304" pitchFamily="18" charset="0"/>
                <a:cs typeface="Times New Roman" panose="02020603050405020304" pitchFamily="18" charset="0"/>
              </a:rPr>
              <a:t>2022-EE-011</a:t>
            </a:r>
            <a:endParaRPr lang="en-US" dirty="0">
              <a:solidFill>
                <a:schemeClr val="bg1">
                  <a:lumMod val="50000"/>
                </a:schemeClr>
              </a:solidFill>
              <a:latin typeface="Times New Roman" panose="02020603050405020304" pitchFamily="18" charset="0"/>
              <a:cs typeface="Times New Roman" panose="02020603050405020304" pitchFamily="18" charset="0"/>
            </a:endParaRPr>
          </a:p>
          <a:p>
            <a:pPr algn="just"/>
            <a:r>
              <a:rPr lang="en-US" dirty="0">
                <a:solidFill>
                  <a:schemeClr val="bg1">
                    <a:lumMod val="50000"/>
                  </a:schemeClr>
                </a:solidFill>
                <a:latin typeface="Times New Roman" panose="02020603050405020304" pitchFamily="18" charset="0"/>
                <a:cs typeface="Times New Roman" panose="02020603050405020304" pitchFamily="18" charset="0"/>
              </a:rPr>
              <a:t>Specialization:</a:t>
            </a:r>
          </a:p>
        </p:txBody>
      </p:sp>
      <p:sp>
        <p:nvSpPr>
          <p:cNvPr id="14" name="Subtitle 2">
            <a:extLst>
              <a:ext uri="{FF2B5EF4-FFF2-40B4-BE49-F238E27FC236}">
                <a16:creationId xmlns:a16="http://schemas.microsoft.com/office/drawing/2014/main" id="{01D28ACB-9627-4C76-AC88-F1466D4A615F}"/>
              </a:ext>
            </a:extLst>
          </p:cNvPr>
          <p:cNvSpPr txBox="1">
            <a:spLocks/>
          </p:cNvSpPr>
          <p:nvPr/>
        </p:nvSpPr>
        <p:spPr>
          <a:xfrm>
            <a:off x="7198361" y="3726212"/>
            <a:ext cx="4688845" cy="1385256"/>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dirty="0" smtClean="0">
                <a:latin typeface="Times New Roman" panose="02020603050405020304" pitchFamily="18" charset="0"/>
                <a:cs typeface="Times New Roman" panose="02020603050405020304" pitchFamily="18" charset="0"/>
              </a:rPr>
              <a:t>Aleeza Mehboob</a:t>
            </a:r>
            <a:endParaRPr lang="en-US" dirty="0">
              <a:latin typeface="Times New Roman" panose="02020603050405020304" pitchFamily="18" charset="0"/>
              <a:cs typeface="Times New Roman" panose="02020603050405020304" pitchFamily="18" charset="0"/>
            </a:endParaRPr>
          </a:p>
          <a:p>
            <a:pPr algn="just"/>
            <a:r>
              <a:rPr lang="en-US" dirty="0" smtClean="0">
                <a:solidFill>
                  <a:schemeClr val="bg1">
                    <a:lumMod val="50000"/>
                  </a:schemeClr>
                </a:solidFill>
                <a:latin typeface="Times New Roman" panose="02020603050405020304" pitchFamily="18" charset="0"/>
                <a:cs typeface="Times New Roman" panose="02020603050405020304" pitchFamily="18" charset="0"/>
              </a:rPr>
              <a:t>2022-EE-005</a:t>
            </a:r>
            <a:endParaRPr lang="en-US" dirty="0">
              <a:solidFill>
                <a:schemeClr val="bg1">
                  <a:lumMod val="50000"/>
                </a:schemeClr>
              </a:solidFill>
              <a:latin typeface="Times New Roman" panose="02020603050405020304" pitchFamily="18" charset="0"/>
              <a:cs typeface="Times New Roman" panose="02020603050405020304" pitchFamily="18" charset="0"/>
            </a:endParaRPr>
          </a:p>
          <a:p>
            <a:pPr algn="just"/>
            <a:r>
              <a:rPr lang="en-US" dirty="0">
                <a:solidFill>
                  <a:schemeClr val="bg1">
                    <a:lumMod val="50000"/>
                  </a:schemeClr>
                </a:solidFill>
                <a:latin typeface="Times New Roman" panose="02020603050405020304" pitchFamily="18" charset="0"/>
                <a:cs typeface="Times New Roman" panose="02020603050405020304" pitchFamily="18" charset="0"/>
              </a:rPr>
              <a:t>Specialization:</a:t>
            </a:r>
          </a:p>
        </p:txBody>
      </p:sp>
      <p:sp>
        <p:nvSpPr>
          <p:cNvPr id="15" name="Date Placeholder 1">
            <a:extLst>
              <a:ext uri="{FF2B5EF4-FFF2-40B4-BE49-F238E27FC236}">
                <a16:creationId xmlns:a16="http://schemas.microsoft.com/office/drawing/2014/main" id="{E1C4B056-CE37-4DBD-89BF-424E4A849FC1}"/>
              </a:ext>
            </a:extLst>
          </p:cNvPr>
          <p:cNvSpPr>
            <a:spLocks noGrp="1"/>
          </p:cNvSpPr>
          <p:nvPr>
            <p:ph type="dt" sz="half" idx="10"/>
          </p:nvPr>
        </p:nvSpPr>
        <p:spPr>
          <a:xfrm>
            <a:off x="464976" y="6421667"/>
            <a:ext cx="4069701" cy="365125"/>
          </a:xfrm>
        </p:spPr>
        <p:txBody>
          <a:bodyPr/>
          <a:lstStyle/>
          <a:p>
            <a:r>
              <a:rPr lang="en-US"/>
              <a:t>FYDP Synopsis Presentation</a:t>
            </a:r>
            <a:endParaRPr lang="en-US" dirty="0"/>
          </a:p>
        </p:txBody>
      </p:sp>
    </p:spTree>
    <p:extLst>
      <p:ext uri="{BB962C8B-B14F-4D97-AF65-F5344CB8AC3E}">
        <p14:creationId xmlns:p14="http://schemas.microsoft.com/office/powerpoint/2010/main" val="14629702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t="30495" r="95477"/>
          <a:stretch/>
        </p:blipFill>
        <p:spPr>
          <a:xfrm>
            <a:off x="-179544" y="0"/>
            <a:ext cx="630306" cy="6857999"/>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54877" y="188954"/>
            <a:ext cx="842171" cy="847135"/>
          </a:xfrm>
          <a:prstGeom prst="rect">
            <a:avLst/>
          </a:prstGeom>
        </p:spPr>
      </p:pic>
      <p:sp>
        <p:nvSpPr>
          <p:cNvPr id="3" name="Slide Number Placeholder 2">
            <a:extLst>
              <a:ext uri="{FF2B5EF4-FFF2-40B4-BE49-F238E27FC236}">
                <a16:creationId xmlns:a16="http://schemas.microsoft.com/office/drawing/2014/main" id="{5F45FAAC-C329-4D41-86EE-F09A19B73ED2}"/>
              </a:ext>
            </a:extLst>
          </p:cNvPr>
          <p:cNvSpPr>
            <a:spLocks noGrp="1"/>
          </p:cNvSpPr>
          <p:nvPr>
            <p:ph type="sldNum" sz="quarter" idx="12"/>
          </p:nvPr>
        </p:nvSpPr>
        <p:spPr>
          <a:xfrm>
            <a:off x="9394370" y="6430998"/>
            <a:ext cx="2743200" cy="365125"/>
          </a:xfrm>
        </p:spPr>
        <p:txBody>
          <a:bodyPr/>
          <a:lstStyle/>
          <a:p>
            <a:fld id="{4B7F9BE2-B59B-40AF-8442-47BAD161B662}" type="slidenum">
              <a:rPr lang="en-US" smtClean="0"/>
              <a:t>3</a:t>
            </a:fld>
            <a:endParaRPr lang="en-US" dirty="0"/>
          </a:p>
        </p:txBody>
      </p:sp>
      <p:sp>
        <p:nvSpPr>
          <p:cNvPr id="13" name="Title 1">
            <a:extLst>
              <a:ext uri="{FF2B5EF4-FFF2-40B4-BE49-F238E27FC236}">
                <a16:creationId xmlns:a16="http://schemas.microsoft.com/office/drawing/2014/main" id="{AC552F05-4030-414D-8C9E-7F9CD7917DE2}"/>
              </a:ext>
            </a:extLst>
          </p:cNvPr>
          <p:cNvSpPr>
            <a:spLocks noGrp="1"/>
          </p:cNvSpPr>
          <p:nvPr>
            <p:ph type="ctrTitle"/>
          </p:nvPr>
        </p:nvSpPr>
        <p:spPr>
          <a:xfrm>
            <a:off x="706571" y="483119"/>
            <a:ext cx="4950517" cy="758662"/>
          </a:xfrm>
        </p:spPr>
        <p:txBody>
          <a:bodyPr anchor="ctr" anchorCtr="0">
            <a:normAutofit/>
          </a:bodyPr>
          <a:lstStyle/>
          <a:p>
            <a:pPr algn="just"/>
            <a:r>
              <a:rPr lang="en-US" sz="4800" dirty="0">
                <a:solidFill>
                  <a:srgbClr val="1E477B"/>
                </a:solidFill>
                <a:latin typeface="Times New Roman" panose="02020603050405020304" pitchFamily="18" charset="0"/>
                <a:cs typeface="Times New Roman" panose="02020603050405020304" pitchFamily="18" charset="0"/>
              </a:rPr>
              <a:t>Problem Statement</a:t>
            </a:r>
          </a:p>
        </p:txBody>
      </p:sp>
      <p:sp>
        <p:nvSpPr>
          <p:cNvPr id="14" name="Subtitle 2">
            <a:extLst>
              <a:ext uri="{FF2B5EF4-FFF2-40B4-BE49-F238E27FC236}">
                <a16:creationId xmlns:a16="http://schemas.microsoft.com/office/drawing/2014/main" id="{C8A3B40C-DE8A-4FAA-90CA-A3FE3ED12731}"/>
              </a:ext>
            </a:extLst>
          </p:cNvPr>
          <p:cNvSpPr txBox="1">
            <a:spLocks/>
          </p:cNvSpPr>
          <p:nvPr/>
        </p:nvSpPr>
        <p:spPr>
          <a:xfrm>
            <a:off x="1131573" y="1579431"/>
            <a:ext cx="9749308" cy="4014478"/>
          </a:xfrm>
          <a:prstGeom prst="rect">
            <a:avLst/>
          </a:prstGeom>
        </p:spPr>
        <p:txBody>
          <a:bodyPr vert="horz" lIns="91440" tIns="45720" rIns="91440" bIns="45720" rtlCol="0" anchor="t" anchorCtr="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200" dirty="0">
                <a:latin typeface="Times New Roman" panose="02020603050405020304" pitchFamily="18" charset="0"/>
                <a:cs typeface="Times New Roman" panose="02020603050405020304" pitchFamily="18" charset="0"/>
              </a:rPr>
              <a:t>Text Size: 32 Times New Roman (5 to 6 lines per slide)</a:t>
            </a:r>
          </a:p>
          <a:p>
            <a:pPr algn="just"/>
            <a:r>
              <a:rPr lang="en-US" sz="3200" dirty="0">
                <a:latin typeface="Times New Roman" panose="02020603050405020304" pitchFamily="18" charset="0"/>
                <a:cs typeface="Times New Roman" panose="02020603050405020304" pitchFamily="18" charset="0"/>
              </a:rPr>
              <a:t>Statement should directly narrate the problem to be worked on. It should be concise and to the point. No need to add explanation/motivation here.</a:t>
            </a:r>
          </a:p>
        </p:txBody>
      </p:sp>
      <p:sp>
        <p:nvSpPr>
          <p:cNvPr id="15" name="Date Placeholder 1">
            <a:extLst>
              <a:ext uri="{FF2B5EF4-FFF2-40B4-BE49-F238E27FC236}">
                <a16:creationId xmlns:a16="http://schemas.microsoft.com/office/drawing/2014/main" id="{912257C6-0AFB-4FE5-965C-D8E76297B27C}"/>
              </a:ext>
            </a:extLst>
          </p:cNvPr>
          <p:cNvSpPr>
            <a:spLocks noGrp="1"/>
          </p:cNvSpPr>
          <p:nvPr>
            <p:ph type="dt" sz="half" idx="10"/>
          </p:nvPr>
        </p:nvSpPr>
        <p:spPr>
          <a:xfrm>
            <a:off x="464976" y="6421667"/>
            <a:ext cx="4069701" cy="365125"/>
          </a:xfrm>
        </p:spPr>
        <p:txBody>
          <a:bodyPr/>
          <a:lstStyle/>
          <a:p>
            <a:r>
              <a:rPr lang="en-US"/>
              <a:t>FYDP Synopsis Presentation</a:t>
            </a:r>
            <a:endParaRPr lang="en-US" dirty="0"/>
          </a:p>
        </p:txBody>
      </p:sp>
    </p:spTree>
    <p:extLst>
      <p:ext uri="{BB962C8B-B14F-4D97-AF65-F5344CB8AC3E}">
        <p14:creationId xmlns:p14="http://schemas.microsoft.com/office/powerpoint/2010/main" val="399511299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7966CA-B0D6-B468-52D7-8AFFFF1CF8D3}"/>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8E89CD75-BF41-226D-A3E5-E2DE6ADC0138}"/>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0495" r="95477"/>
          <a:stretch/>
        </p:blipFill>
        <p:spPr>
          <a:xfrm>
            <a:off x="-179544" y="0"/>
            <a:ext cx="630306" cy="6857999"/>
          </a:xfrm>
          <a:prstGeom prst="rect">
            <a:avLst/>
          </a:prstGeom>
        </p:spPr>
      </p:pic>
      <p:pic>
        <p:nvPicPr>
          <p:cNvPr id="9" name="Picture 8">
            <a:extLst>
              <a:ext uri="{FF2B5EF4-FFF2-40B4-BE49-F238E27FC236}">
                <a16:creationId xmlns:a16="http://schemas.microsoft.com/office/drawing/2014/main" id="{B3707CB0-AF01-436D-A428-964D6CE63FB5}"/>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54877" y="188954"/>
            <a:ext cx="842171" cy="847135"/>
          </a:xfrm>
          <a:prstGeom prst="rect">
            <a:avLst/>
          </a:prstGeom>
        </p:spPr>
      </p:pic>
      <p:sp>
        <p:nvSpPr>
          <p:cNvPr id="3" name="Slide Number Placeholder 2">
            <a:extLst>
              <a:ext uri="{FF2B5EF4-FFF2-40B4-BE49-F238E27FC236}">
                <a16:creationId xmlns:a16="http://schemas.microsoft.com/office/drawing/2014/main" id="{AF904646-9247-1992-AC99-8B220DB3D9C7}"/>
              </a:ext>
            </a:extLst>
          </p:cNvPr>
          <p:cNvSpPr>
            <a:spLocks noGrp="1"/>
          </p:cNvSpPr>
          <p:nvPr>
            <p:ph type="sldNum" sz="quarter" idx="12"/>
          </p:nvPr>
        </p:nvSpPr>
        <p:spPr>
          <a:xfrm>
            <a:off x="9394370" y="6430998"/>
            <a:ext cx="2743200" cy="365125"/>
          </a:xfrm>
        </p:spPr>
        <p:txBody>
          <a:bodyPr/>
          <a:lstStyle/>
          <a:p>
            <a:fld id="{4B7F9BE2-B59B-40AF-8442-47BAD161B662}" type="slidenum">
              <a:rPr lang="en-US" smtClean="0"/>
              <a:t>4</a:t>
            </a:fld>
            <a:endParaRPr lang="en-US" dirty="0"/>
          </a:p>
        </p:txBody>
      </p:sp>
      <p:sp>
        <p:nvSpPr>
          <p:cNvPr id="13" name="Title 1">
            <a:extLst>
              <a:ext uri="{FF2B5EF4-FFF2-40B4-BE49-F238E27FC236}">
                <a16:creationId xmlns:a16="http://schemas.microsoft.com/office/drawing/2014/main" id="{7582C436-903C-3294-B11D-42F89121B523}"/>
              </a:ext>
            </a:extLst>
          </p:cNvPr>
          <p:cNvSpPr>
            <a:spLocks noGrp="1"/>
          </p:cNvSpPr>
          <p:nvPr>
            <p:ph type="ctrTitle"/>
          </p:nvPr>
        </p:nvSpPr>
        <p:spPr>
          <a:xfrm>
            <a:off x="706571" y="483119"/>
            <a:ext cx="4950517" cy="758662"/>
          </a:xfrm>
        </p:spPr>
        <p:txBody>
          <a:bodyPr>
            <a:normAutofit/>
          </a:bodyPr>
          <a:lstStyle/>
          <a:p>
            <a:pPr algn="just"/>
            <a:r>
              <a:rPr lang="en-US" sz="4800" dirty="0">
                <a:solidFill>
                  <a:srgbClr val="1E477B"/>
                </a:solidFill>
                <a:latin typeface="Times New Roman" panose="02020603050405020304" pitchFamily="18" charset="0"/>
                <a:cs typeface="Times New Roman" panose="02020603050405020304" pitchFamily="18" charset="0"/>
              </a:rPr>
              <a:t>Motivation</a:t>
            </a:r>
          </a:p>
        </p:txBody>
      </p:sp>
      <p:sp>
        <p:nvSpPr>
          <p:cNvPr id="14" name="Subtitle 2">
            <a:extLst>
              <a:ext uri="{FF2B5EF4-FFF2-40B4-BE49-F238E27FC236}">
                <a16:creationId xmlns:a16="http://schemas.microsoft.com/office/drawing/2014/main" id="{3843007C-3F8B-89F1-A92D-F1EDA34A044E}"/>
              </a:ext>
            </a:extLst>
          </p:cNvPr>
          <p:cNvSpPr txBox="1">
            <a:spLocks/>
          </p:cNvSpPr>
          <p:nvPr/>
        </p:nvSpPr>
        <p:spPr>
          <a:xfrm>
            <a:off x="1131573" y="1579431"/>
            <a:ext cx="9749308" cy="40144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200" dirty="0">
                <a:latin typeface="Times New Roman" panose="02020603050405020304" pitchFamily="18" charset="0"/>
                <a:cs typeface="Times New Roman" panose="02020603050405020304" pitchFamily="18" charset="0"/>
              </a:rPr>
              <a:t>Explain what motivates you to work on the mentioned problem.</a:t>
            </a:r>
          </a:p>
        </p:txBody>
      </p:sp>
      <p:sp>
        <p:nvSpPr>
          <p:cNvPr id="8" name="Date Placeholder 1">
            <a:extLst>
              <a:ext uri="{FF2B5EF4-FFF2-40B4-BE49-F238E27FC236}">
                <a16:creationId xmlns:a16="http://schemas.microsoft.com/office/drawing/2014/main" id="{57019C46-620C-CD87-ADA9-BB70B5AA999C}"/>
              </a:ext>
            </a:extLst>
          </p:cNvPr>
          <p:cNvSpPr>
            <a:spLocks noGrp="1"/>
          </p:cNvSpPr>
          <p:nvPr>
            <p:ph type="dt" sz="half" idx="10"/>
          </p:nvPr>
        </p:nvSpPr>
        <p:spPr>
          <a:xfrm>
            <a:off x="464976" y="6421667"/>
            <a:ext cx="4069701" cy="365125"/>
          </a:xfrm>
        </p:spPr>
        <p:txBody>
          <a:bodyPr/>
          <a:lstStyle/>
          <a:p>
            <a:r>
              <a:rPr lang="en-US"/>
              <a:t>FYDP Synopsis Presentation</a:t>
            </a:r>
            <a:endParaRPr lang="en-US" dirty="0"/>
          </a:p>
        </p:txBody>
      </p:sp>
    </p:spTree>
    <p:extLst>
      <p:ext uri="{BB962C8B-B14F-4D97-AF65-F5344CB8AC3E}">
        <p14:creationId xmlns:p14="http://schemas.microsoft.com/office/powerpoint/2010/main" val="28083747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11E788-DEE5-B974-BC0D-D471EC6A4A7D}"/>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A3D72E07-7F95-7C77-5DD7-EAF9CB899B5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0495" r="95477"/>
          <a:stretch/>
        </p:blipFill>
        <p:spPr>
          <a:xfrm>
            <a:off x="-179544" y="0"/>
            <a:ext cx="630306" cy="6857999"/>
          </a:xfrm>
          <a:prstGeom prst="rect">
            <a:avLst/>
          </a:prstGeom>
        </p:spPr>
      </p:pic>
      <p:pic>
        <p:nvPicPr>
          <p:cNvPr id="9" name="Picture 8">
            <a:extLst>
              <a:ext uri="{FF2B5EF4-FFF2-40B4-BE49-F238E27FC236}">
                <a16:creationId xmlns:a16="http://schemas.microsoft.com/office/drawing/2014/main" id="{4CCE2F14-BBC9-E434-B750-081482BECE6F}"/>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54877" y="188954"/>
            <a:ext cx="842171" cy="847135"/>
          </a:xfrm>
          <a:prstGeom prst="rect">
            <a:avLst/>
          </a:prstGeom>
        </p:spPr>
      </p:pic>
      <p:sp>
        <p:nvSpPr>
          <p:cNvPr id="3" name="Slide Number Placeholder 2">
            <a:extLst>
              <a:ext uri="{FF2B5EF4-FFF2-40B4-BE49-F238E27FC236}">
                <a16:creationId xmlns:a16="http://schemas.microsoft.com/office/drawing/2014/main" id="{2EED275D-DE30-EC52-143A-09D56DAED026}"/>
              </a:ext>
            </a:extLst>
          </p:cNvPr>
          <p:cNvSpPr>
            <a:spLocks noGrp="1"/>
          </p:cNvSpPr>
          <p:nvPr>
            <p:ph type="sldNum" sz="quarter" idx="12"/>
          </p:nvPr>
        </p:nvSpPr>
        <p:spPr>
          <a:xfrm>
            <a:off x="9394370" y="6430998"/>
            <a:ext cx="2743200" cy="365125"/>
          </a:xfrm>
        </p:spPr>
        <p:txBody>
          <a:bodyPr/>
          <a:lstStyle/>
          <a:p>
            <a:fld id="{4B7F9BE2-B59B-40AF-8442-47BAD161B662}" type="slidenum">
              <a:rPr lang="en-US" smtClean="0"/>
              <a:t>5</a:t>
            </a:fld>
            <a:endParaRPr lang="en-US" dirty="0"/>
          </a:p>
        </p:txBody>
      </p:sp>
      <p:sp>
        <p:nvSpPr>
          <p:cNvPr id="13" name="Title 1">
            <a:extLst>
              <a:ext uri="{FF2B5EF4-FFF2-40B4-BE49-F238E27FC236}">
                <a16:creationId xmlns:a16="http://schemas.microsoft.com/office/drawing/2014/main" id="{C560F014-6B35-96BB-CB72-2886474BE146}"/>
              </a:ext>
            </a:extLst>
          </p:cNvPr>
          <p:cNvSpPr>
            <a:spLocks noGrp="1"/>
          </p:cNvSpPr>
          <p:nvPr>
            <p:ph type="ctrTitle"/>
          </p:nvPr>
        </p:nvSpPr>
        <p:spPr>
          <a:xfrm>
            <a:off x="706571" y="483119"/>
            <a:ext cx="4950517" cy="758662"/>
          </a:xfrm>
        </p:spPr>
        <p:txBody>
          <a:bodyPr>
            <a:normAutofit/>
          </a:bodyPr>
          <a:lstStyle/>
          <a:p>
            <a:pPr algn="just"/>
            <a:r>
              <a:rPr lang="en-US" sz="4800" dirty="0">
                <a:solidFill>
                  <a:srgbClr val="1E477B"/>
                </a:solidFill>
                <a:latin typeface="Times New Roman" panose="02020603050405020304" pitchFamily="18" charset="0"/>
                <a:cs typeface="Times New Roman" panose="02020603050405020304" pitchFamily="18" charset="0"/>
              </a:rPr>
              <a:t>Literature Review</a:t>
            </a:r>
          </a:p>
        </p:txBody>
      </p:sp>
      <p:sp>
        <p:nvSpPr>
          <p:cNvPr id="14" name="Subtitle 2">
            <a:extLst>
              <a:ext uri="{FF2B5EF4-FFF2-40B4-BE49-F238E27FC236}">
                <a16:creationId xmlns:a16="http://schemas.microsoft.com/office/drawing/2014/main" id="{FAE0AEC4-F797-FBF4-736C-ADE107C63D84}"/>
              </a:ext>
            </a:extLst>
          </p:cNvPr>
          <p:cNvSpPr txBox="1">
            <a:spLocks/>
          </p:cNvSpPr>
          <p:nvPr/>
        </p:nvSpPr>
        <p:spPr>
          <a:xfrm>
            <a:off x="1131573" y="1579431"/>
            <a:ext cx="9749308" cy="40144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200" dirty="0">
                <a:latin typeface="Times New Roman" panose="02020603050405020304" pitchFamily="18" charset="0"/>
                <a:cs typeface="Times New Roman" panose="02020603050405020304" pitchFamily="18" charset="0"/>
              </a:rPr>
              <a:t>Summarize your background research on existing solution and technologies.</a:t>
            </a:r>
          </a:p>
        </p:txBody>
      </p:sp>
      <p:sp>
        <p:nvSpPr>
          <p:cNvPr id="8" name="Date Placeholder 1">
            <a:extLst>
              <a:ext uri="{FF2B5EF4-FFF2-40B4-BE49-F238E27FC236}">
                <a16:creationId xmlns:a16="http://schemas.microsoft.com/office/drawing/2014/main" id="{C36204B7-CEC0-D489-35DB-65C7EE270EDF}"/>
              </a:ext>
            </a:extLst>
          </p:cNvPr>
          <p:cNvSpPr>
            <a:spLocks noGrp="1"/>
          </p:cNvSpPr>
          <p:nvPr>
            <p:ph type="dt" sz="half" idx="10"/>
          </p:nvPr>
        </p:nvSpPr>
        <p:spPr>
          <a:xfrm>
            <a:off x="464976" y="6421667"/>
            <a:ext cx="4069701" cy="365125"/>
          </a:xfrm>
        </p:spPr>
        <p:txBody>
          <a:bodyPr/>
          <a:lstStyle/>
          <a:p>
            <a:r>
              <a:rPr lang="en-US"/>
              <a:t>FYDP Synopsis Presentation</a:t>
            </a:r>
            <a:endParaRPr lang="en-US" dirty="0"/>
          </a:p>
        </p:txBody>
      </p:sp>
    </p:spTree>
    <p:extLst>
      <p:ext uri="{BB962C8B-B14F-4D97-AF65-F5344CB8AC3E}">
        <p14:creationId xmlns:p14="http://schemas.microsoft.com/office/powerpoint/2010/main" val="349335656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F6243D-AAF0-6B81-E872-7E3FFD0C933A}"/>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417D1E26-006F-F4AD-D9B0-71D901A33913}"/>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0495" r="95477"/>
          <a:stretch/>
        </p:blipFill>
        <p:spPr>
          <a:xfrm>
            <a:off x="-179544" y="0"/>
            <a:ext cx="630306" cy="6857999"/>
          </a:xfrm>
          <a:prstGeom prst="rect">
            <a:avLst/>
          </a:prstGeom>
        </p:spPr>
      </p:pic>
      <p:pic>
        <p:nvPicPr>
          <p:cNvPr id="9" name="Picture 8">
            <a:extLst>
              <a:ext uri="{FF2B5EF4-FFF2-40B4-BE49-F238E27FC236}">
                <a16:creationId xmlns:a16="http://schemas.microsoft.com/office/drawing/2014/main" id="{A6D60004-0D52-A2A4-6764-9336779E47BA}"/>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54877" y="188954"/>
            <a:ext cx="842171" cy="847135"/>
          </a:xfrm>
          <a:prstGeom prst="rect">
            <a:avLst/>
          </a:prstGeom>
        </p:spPr>
      </p:pic>
      <p:sp>
        <p:nvSpPr>
          <p:cNvPr id="3" name="Slide Number Placeholder 2">
            <a:extLst>
              <a:ext uri="{FF2B5EF4-FFF2-40B4-BE49-F238E27FC236}">
                <a16:creationId xmlns:a16="http://schemas.microsoft.com/office/drawing/2014/main" id="{51B657EF-2759-7CD4-174A-9F3745627367}"/>
              </a:ext>
            </a:extLst>
          </p:cNvPr>
          <p:cNvSpPr>
            <a:spLocks noGrp="1"/>
          </p:cNvSpPr>
          <p:nvPr>
            <p:ph type="sldNum" sz="quarter" idx="12"/>
          </p:nvPr>
        </p:nvSpPr>
        <p:spPr>
          <a:xfrm>
            <a:off x="9394370" y="6430998"/>
            <a:ext cx="2743200" cy="365125"/>
          </a:xfrm>
        </p:spPr>
        <p:txBody>
          <a:bodyPr/>
          <a:lstStyle/>
          <a:p>
            <a:fld id="{4B7F9BE2-B59B-40AF-8442-47BAD161B662}" type="slidenum">
              <a:rPr lang="en-US" smtClean="0"/>
              <a:t>6</a:t>
            </a:fld>
            <a:endParaRPr lang="en-US" dirty="0"/>
          </a:p>
        </p:txBody>
      </p:sp>
      <p:sp>
        <p:nvSpPr>
          <p:cNvPr id="13" name="Title 1">
            <a:extLst>
              <a:ext uri="{FF2B5EF4-FFF2-40B4-BE49-F238E27FC236}">
                <a16:creationId xmlns:a16="http://schemas.microsoft.com/office/drawing/2014/main" id="{D910A875-021D-7DEE-F91A-CDC5F721DCB0}"/>
              </a:ext>
            </a:extLst>
          </p:cNvPr>
          <p:cNvSpPr>
            <a:spLocks noGrp="1"/>
          </p:cNvSpPr>
          <p:nvPr>
            <p:ph type="ctrTitle"/>
          </p:nvPr>
        </p:nvSpPr>
        <p:spPr>
          <a:xfrm>
            <a:off x="706571" y="483119"/>
            <a:ext cx="4950517" cy="758662"/>
          </a:xfrm>
        </p:spPr>
        <p:txBody>
          <a:bodyPr>
            <a:normAutofit/>
          </a:bodyPr>
          <a:lstStyle/>
          <a:p>
            <a:pPr algn="just"/>
            <a:r>
              <a:rPr lang="en-US" sz="4800" dirty="0">
                <a:solidFill>
                  <a:srgbClr val="1E477B"/>
                </a:solidFill>
                <a:latin typeface="Times New Roman" panose="02020603050405020304" pitchFamily="18" charset="0"/>
                <a:cs typeface="Times New Roman" panose="02020603050405020304" pitchFamily="18" charset="0"/>
              </a:rPr>
              <a:t>Objectives</a:t>
            </a:r>
          </a:p>
        </p:txBody>
      </p:sp>
      <p:sp>
        <p:nvSpPr>
          <p:cNvPr id="14" name="Subtitle 2">
            <a:extLst>
              <a:ext uri="{FF2B5EF4-FFF2-40B4-BE49-F238E27FC236}">
                <a16:creationId xmlns:a16="http://schemas.microsoft.com/office/drawing/2014/main" id="{391502E8-250A-B006-4180-2179610A2326}"/>
              </a:ext>
            </a:extLst>
          </p:cNvPr>
          <p:cNvSpPr txBox="1">
            <a:spLocks/>
          </p:cNvSpPr>
          <p:nvPr/>
        </p:nvSpPr>
        <p:spPr>
          <a:xfrm>
            <a:off x="1148991" y="1588140"/>
            <a:ext cx="9749308" cy="40144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200" dirty="0">
                <a:latin typeface="Times New Roman" panose="02020603050405020304" pitchFamily="18" charset="0"/>
                <a:cs typeface="Times New Roman" panose="02020603050405020304" pitchFamily="18" charset="0"/>
              </a:rPr>
              <a:t>List specific, measurable (i.e., deliverable), and relevant objectives of your project, using numbered or bulleted text. Discuss how your proposed solution will be better than others.</a:t>
            </a:r>
          </a:p>
        </p:txBody>
      </p:sp>
      <p:sp>
        <p:nvSpPr>
          <p:cNvPr id="8" name="Date Placeholder 1">
            <a:extLst>
              <a:ext uri="{FF2B5EF4-FFF2-40B4-BE49-F238E27FC236}">
                <a16:creationId xmlns:a16="http://schemas.microsoft.com/office/drawing/2014/main" id="{B59D4CF5-D220-BAA4-5DE4-2EE05747B8FD}"/>
              </a:ext>
            </a:extLst>
          </p:cNvPr>
          <p:cNvSpPr>
            <a:spLocks noGrp="1"/>
          </p:cNvSpPr>
          <p:nvPr>
            <p:ph type="dt" sz="half" idx="10"/>
          </p:nvPr>
        </p:nvSpPr>
        <p:spPr>
          <a:xfrm>
            <a:off x="464976" y="6421667"/>
            <a:ext cx="4069701" cy="365125"/>
          </a:xfrm>
        </p:spPr>
        <p:txBody>
          <a:bodyPr/>
          <a:lstStyle/>
          <a:p>
            <a:r>
              <a:rPr lang="en-US"/>
              <a:t>FYDP Synopsis Presentation</a:t>
            </a:r>
            <a:endParaRPr lang="en-US" dirty="0"/>
          </a:p>
        </p:txBody>
      </p:sp>
    </p:spTree>
    <p:extLst>
      <p:ext uri="{BB962C8B-B14F-4D97-AF65-F5344CB8AC3E}">
        <p14:creationId xmlns:p14="http://schemas.microsoft.com/office/powerpoint/2010/main" val="34582599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t="30495" r="95477"/>
          <a:stretch/>
        </p:blipFill>
        <p:spPr>
          <a:xfrm>
            <a:off x="-179544" y="0"/>
            <a:ext cx="630306" cy="6857999"/>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54877" y="188954"/>
            <a:ext cx="842171" cy="847135"/>
          </a:xfrm>
          <a:prstGeom prst="rect">
            <a:avLst/>
          </a:prstGeom>
        </p:spPr>
      </p:pic>
      <p:sp>
        <p:nvSpPr>
          <p:cNvPr id="3" name="Slide Number Placeholder 2">
            <a:extLst>
              <a:ext uri="{FF2B5EF4-FFF2-40B4-BE49-F238E27FC236}">
                <a16:creationId xmlns:a16="http://schemas.microsoft.com/office/drawing/2014/main" id="{5F45FAAC-C329-4D41-86EE-F09A19B73ED2}"/>
              </a:ext>
            </a:extLst>
          </p:cNvPr>
          <p:cNvSpPr>
            <a:spLocks noGrp="1"/>
          </p:cNvSpPr>
          <p:nvPr>
            <p:ph type="sldNum" sz="quarter" idx="12"/>
          </p:nvPr>
        </p:nvSpPr>
        <p:spPr>
          <a:xfrm>
            <a:off x="9394370" y="6430998"/>
            <a:ext cx="2743200" cy="365125"/>
          </a:xfrm>
        </p:spPr>
        <p:txBody>
          <a:bodyPr/>
          <a:lstStyle/>
          <a:p>
            <a:fld id="{4B7F9BE2-B59B-40AF-8442-47BAD161B662}" type="slidenum">
              <a:rPr lang="en-US" smtClean="0"/>
              <a:t>7</a:t>
            </a:fld>
            <a:endParaRPr lang="en-US" dirty="0"/>
          </a:p>
        </p:txBody>
      </p:sp>
      <p:sp>
        <p:nvSpPr>
          <p:cNvPr id="13" name="Title 1">
            <a:extLst>
              <a:ext uri="{FF2B5EF4-FFF2-40B4-BE49-F238E27FC236}">
                <a16:creationId xmlns:a16="http://schemas.microsoft.com/office/drawing/2014/main" id="{AC552F05-4030-414D-8C9E-7F9CD7917DE2}"/>
              </a:ext>
            </a:extLst>
          </p:cNvPr>
          <p:cNvSpPr>
            <a:spLocks noGrp="1"/>
          </p:cNvSpPr>
          <p:nvPr>
            <p:ph type="ctrTitle"/>
          </p:nvPr>
        </p:nvSpPr>
        <p:spPr>
          <a:xfrm>
            <a:off x="706571" y="483119"/>
            <a:ext cx="4950517" cy="758662"/>
          </a:xfrm>
        </p:spPr>
        <p:txBody>
          <a:bodyPr>
            <a:normAutofit/>
          </a:bodyPr>
          <a:lstStyle/>
          <a:p>
            <a:pPr algn="just"/>
            <a:r>
              <a:rPr lang="en-US" sz="4800" dirty="0">
                <a:solidFill>
                  <a:srgbClr val="1E477B"/>
                </a:solidFill>
                <a:latin typeface="Times New Roman" panose="02020603050405020304" pitchFamily="18" charset="0"/>
                <a:cs typeface="Times New Roman" panose="02020603050405020304" pitchFamily="18" charset="0"/>
              </a:rPr>
              <a:t>Methodology</a:t>
            </a:r>
          </a:p>
        </p:txBody>
      </p:sp>
      <p:sp>
        <p:nvSpPr>
          <p:cNvPr id="14" name="Subtitle 2">
            <a:extLst>
              <a:ext uri="{FF2B5EF4-FFF2-40B4-BE49-F238E27FC236}">
                <a16:creationId xmlns:a16="http://schemas.microsoft.com/office/drawing/2014/main" id="{C8A3B40C-DE8A-4FAA-90CA-A3FE3ED12731}"/>
              </a:ext>
            </a:extLst>
          </p:cNvPr>
          <p:cNvSpPr txBox="1">
            <a:spLocks/>
          </p:cNvSpPr>
          <p:nvPr/>
        </p:nvSpPr>
        <p:spPr>
          <a:xfrm>
            <a:off x="1131573" y="1579431"/>
            <a:ext cx="9749308" cy="40144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200" dirty="0">
                <a:latin typeface="Times New Roman" panose="02020603050405020304" pitchFamily="18" charset="0"/>
                <a:cs typeface="Times New Roman" panose="02020603050405020304" pitchFamily="18" charset="0"/>
              </a:rPr>
              <a:t>Discuss the approach you plan to follow in order to achieve your objectives. Explain using:</a:t>
            </a:r>
          </a:p>
          <a:p>
            <a:pPr marL="457200" indent="-457200" algn="just">
              <a:buSzPct val="1500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Block Diagram</a:t>
            </a:r>
          </a:p>
          <a:p>
            <a:pPr marL="457200" algn="just"/>
            <a:r>
              <a:rPr lang="en-US" sz="1600" dirty="0">
                <a:latin typeface="Times New Roman" panose="02020603050405020304" pitchFamily="18" charset="0"/>
                <a:cs typeface="Times New Roman" panose="02020603050405020304" pitchFamily="18" charset="0"/>
              </a:rPr>
              <a:t>(Diagram should be made in either Microsoft Visio or Microsoft Paint. Text in blocks should be written in “Times New Roman” with font size 28. Block diagram can be split into more than one slides but it should be readable.)</a:t>
            </a:r>
          </a:p>
          <a:p>
            <a:pPr marL="457200" indent="-457200" algn="just">
              <a:buSzPct val="150000"/>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Flow Chart</a:t>
            </a:r>
          </a:p>
          <a:p>
            <a:pPr marL="457200" algn="just"/>
            <a:r>
              <a:rPr lang="en-US" sz="1600" dirty="0">
                <a:latin typeface="Times New Roman" panose="02020603050405020304" pitchFamily="18" charset="0"/>
                <a:cs typeface="Times New Roman" panose="02020603050405020304" pitchFamily="18" charset="0"/>
              </a:rPr>
              <a:t>(Diagram should be made in either Microsoft Visio or Microsoft Paint. Text in blocks should be written in “Times New Roman” with font size 28. Flow diagram can be split into more than one slides but it should be readable.)</a:t>
            </a:r>
          </a:p>
        </p:txBody>
      </p:sp>
      <p:sp>
        <p:nvSpPr>
          <p:cNvPr id="8" name="Date Placeholder 1">
            <a:extLst>
              <a:ext uri="{FF2B5EF4-FFF2-40B4-BE49-F238E27FC236}">
                <a16:creationId xmlns:a16="http://schemas.microsoft.com/office/drawing/2014/main" id="{DEF186A6-5809-4CEC-9AAB-F4C5644DE8C4}"/>
              </a:ext>
            </a:extLst>
          </p:cNvPr>
          <p:cNvSpPr>
            <a:spLocks noGrp="1"/>
          </p:cNvSpPr>
          <p:nvPr>
            <p:ph type="dt" sz="half" idx="10"/>
          </p:nvPr>
        </p:nvSpPr>
        <p:spPr>
          <a:xfrm>
            <a:off x="464976" y="6421667"/>
            <a:ext cx="4069701" cy="365125"/>
          </a:xfrm>
        </p:spPr>
        <p:txBody>
          <a:bodyPr/>
          <a:lstStyle/>
          <a:p>
            <a:r>
              <a:rPr lang="en-US"/>
              <a:t>FYDP Synopsis Presentation</a:t>
            </a:r>
            <a:endParaRPr lang="en-US" dirty="0"/>
          </a:p>
        </p:txBody>
      </p:sp>
    </p:spTree>
    <p:extLst>
      <p:ext uri="{BB962C8B-B14F-4D97-AF65-F5344CB8AC3E}">
        <p14:creationId xmlns:p14="http://schemas.microsoft.com/office/powerpoint/2010/main" val="7320040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A663F-5DD3-3874-60BB-1CC4888C9B9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69BD8803-5FE3-0478-C919-E5CE146F5E5C}"/>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0495" r="95477"/>
          <a:stretch/>
        </p:blipFill>
        <p:spPr>
          <a:xfrm>
            <a:off x="-179544" y="0"/>
            <a:ext cx="630306" cy="6857999"/>
          </a:xfrm>
          <a:prstGeom prst="rect">
            <a:avLst/>
          </a:prstGeom>
        </p:spPr>
      </p:pic>
      <p:pic>
        <p:nvPicPr>
          <p:cNvPr id="9" name="Picture 8">
            <a:extLst>
              <a:ext uri="{FF2B5EF4-FFF2-40B4-BE49-F238E27FC236}">
                <a16:creationId xmlns:a16="http://schemas.microsoft.com/office/drawing/2014/main" id="{E8EB103B-42F2-F44A-2E5A-9AEAC61D5D9E}"/>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54877" y="188954"/>
            <a:ext cx="842171" cy="847135"/>
          </a:xfrm>
          <a:prstGeom prst="rect">
            <a:avLst/>
          </a:prstGeom>
        </p:spPr>
      </p:pic>
      <p:sp>
        <p:nvSpPr>
          <p:cNvPr id="3" name="Slide Number Placeholder 2">
            <a:extLst>
              <a:ext uri="{FF2B5EF4-FFF2-40B4-BE49-F238E27FC236}">
                <a16:creationId xmlns:a16="http://schemas.microsoft.com/office/drawing/2014/main" id="{C5F6D305-09E1-B2A0-AE85-FBDC65AC2C4C}"/>
              </a:ext>
            </a:extLst>
          </p:cNvPr>
          <p:cNvSpPr>
            <a:spLocks noGrp="1"/>
          </p:cNvSpPr>
          <p:nvPr>
            <p:ph type="sldNum" sz="quarter" idx="12"/>
          </p:nvPr>
        </p:nvSpPr>
        <p:spPr>
          <a:xfrm>
            <a:off x="9394370" y="6430998"/>
            <a:ext cx="2743200" cy="365125"/>
          </a:xfrm>
        </p:spPr>
        <p:txBody>
          <a:bodyPr/>
          <a:lstStyle/>
          <a:p>
            <a:fld id="{4B7F9BE2-B59B-40AF-8442-47BAD161B662}" type="slidenum">
              <a:rPr lang="en-US" smtClean="0"/>
              <a:t>8</a:t>
            </a:fld>
            <a:endParaRPr lang="en-US" dirty="0"/>
          </a:p>
        </p:txBody>
      </p:sp>
      <p:sp>
        <p:nvSpPr>
          <p:cNvPr id="13" name="Title 1">
            <a:extLst>
              <a:ext uri="{FF2B5EF4-FFF2-40B4-BE49-F238E27FC236}">
                <a16:creationId xmlns:a16="http://schemas.microsoft.com/office/drawing/2014/main" id="{8C49C400-A90D-82D7-6706-37722E30B16A}"/>
              </a:ext>
            </a:extLst>
          </p:cNvPr>
          <p:cNvSpPr>
            <a:spLocks noGrp="1"/>
          </p:cNvSpPr>
          <p:nvPr>
            <p:ph type="ctrTitle"/>
          </p:nvPr>
        </p:nvSpPr>
        <p:spPr>
          <a:xfrm>
            <a:off x="706571" y="483119"/>
            <a:ext cx="4950517" cy="758662"/>
          </a:xfrm>
        </p:spPr>
        <p:txBody>
          <a:bodyPr>
            <a:normAutofit/>
          </a:bodyPr>
          <a:lstStyle/>
          <a:p>
            <a:pPr algn="just"/>
            <a:r>
              <a:rPr lang="en-US" sz="4800" dirty="0">
                <a:solidFill>
                  <a:srgbClr val="1E477B"/>
                </a:solidFill>
                <a:latin typeface="Times New Roman" panose="02020603050405020304" pitchFamily="18" charset="0"/>
                <a:cs typeface="Times New Roman" panose="02020603050405020304" pitchFamily="18" charset="0"/>
              </a:rPr>
              <a:t>Design Constraints</a:t>
            </a:r>
          </a:p>
        </p:txBody>
      </p:sp>
      <p:sp>
        <p:nvSpPr>
          <p:cNvPr id="14" name="Subtitle 2">
            <a:extLst>
              <a:ext uri="{FF2B5EF4-FFF2-40B4-BE49-F238E27FC236}">
                <a16:creationId xmlns:a16="http://schemas.microsoft.com/office/drawing/2014/main" id="{BAC6EDBF-997D-F8BC-26BE-517F4EE1DDD4}"/>
              </a:ext>
            </a:extLst>
          </p:cNvPr>
          <p:cNvSpPr txBox="1">
            <a:spLocks/>
          </p:cNvSpPr>
          <p:nvPr/>
        </p:nvSpPr>
        <p:spPr>
          <a:xfrm>
            <a:off x="1131573" y="1579431"/>
            <a:ext cx="9749308" cy="40144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200" dirty="0">
                <a:latin typeface="Times New Roman" panose="02020603050405020304" pitchFamily="18" charset="0"/>
                <a:cs typeface="Times New Roman" panose="02020603050405020304" pitchFamily="18" charset="0"/>
              </a:rPr>
              <a:t>It is necessary to ensure that the work you are doing has a significant element of design. Furthermore, you must clearly list the design constraints. Design constraints must be achievable. </a:t>
            </a:r>
            <a:r>
              <a:rPr lang="en-US" sz="3200" b="1" dirty="0">
                <a:latin typeface="Times New Roman" panose="02020603050405020304" pitchFamily="18" charset="0"/>
                <a:cs typeface="Times New Roman" panose="02020603050405020304" pitchFamily="18" charset="0"/>
              </a:rPr>
              <a:t>Open-ended projects are strictly not allowed</a:t>
            </a:r>
            <a:r>
              <a:rPr lang="en-US" sz="3200" dirty="0">
                <a:latin typeface="Times New Roman" panose="02020603050405020304" pitchFamily="18" charset="0"/>
                <a:cs typeface="Times New Roman" panose="02020603050405020304" pitchFamily="18" charset="0"/>
              </a:rPr>
              <a:t>. </a:t>
            </a:r>
          </a:p>
        </p:txBody>
      </p:sp>
      <p:sp>
        <p:nvSpPr>
          <p:cNvPr id="8" name="Date Placeholder 1">
            <a:extLst>
              <a:ext uri="{FF2B5EF4-FFF2-40B4-BE49-F238E27FC236}">
                <a16:creationId xmlns:a16="http://schemas.microsoft.com/office/drawing/2014/main" id="{D374D710-A8F6-54E1-D968-9FC934D9EF53}"/>
              </a:ext>
            </a:extLst>
          </p:cNvPr>
          <p:cNvSpPr>
            <a:spLocks noGrp="1"/>
          </p:cNvSpPr>
          <p:nvPr>
            <p:ph type="dt" sz="half" idx="10"/>
          </p:nvPr>
        </p:nvSpPr>
        <p:spPr>
          <a:xfrm>
            <a:off x="464976" y="6421667"/>
            <a:ext cx="4069701" cy="365125"/>
          </a:xfrm>
        </p:spPr>
        <p:txBody>
          <a:bodyPr/>
          <a:lstStyle/>
          <a:p>
            <a:r>
              <a:rPr lang="en-US"/>
              <a:t>FYDP Synopsis Presentation</a:t>
            </a:r>
            <a:endParaRPr lang="en-US" dirty="0"/>
          </a:p>
        </p:txBody>
      </p:sp>
    </p:spTree>
    <p:extLst>
      <p:ext uri="{BB962C8B-B14F-4D97-AF65-F5344CB8AC3E}">
        <p14:creationId xmlns:p14="http://schemas.microsoft.com/office/powerpoint/2010/main" val="41406994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t="30495" r="95477"/>
          <a:stretch/>
        </p:blipFill>
        <p:spPr>
          <a:xfrm>
            <a:off x="-179544" y="0"/>
            <a:ext cx="630306" cy="6857999"/>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54877" y="188954"/>
            <a:ext cx="842171" cy="847135"/>
          </a:xfrm>
          <a:prstGeom prst="rect">
            <a:avLst/>
          </a:prstGeom>
        </p:spPr>
      </p:pic>
      <p:sp>
        <p:nvSpPr>
          <p:cNvPr id="3" name="Slide Number Placeholder 2">
            <a:extLst>
              <a:ext uri="{FF2B5EF4-FFF2-40B4-BE49-F238E27FC236}">
                <a16:creationId xmlns:a16="http://schemas.microsoft.com/office/drawing/2014/main" id="{5F45FAAC-C329-4D41-86EE-F09A19B73ED2}"/>
              </a:ext>
            </a:extLst>
          </p:cNvPr>
          <p:cNvSpPr>
            <a:spLocks noGrp="1"/>
          </p:cNvSpPr>
          <p:nvPr>
            <p:ph type="sldNum" sz="quarter" idx="12"/>
          </p:nvPr>
        </p:nvSpPr>
        <p:spPr>
          <a:xfrm>
            <a:off x="9394370" y="6430998"/>
            <a:ext cx="2743200" cy="365125"/>
          </a:xfrm>
        </p:spPr>
        <p:txBody>
          <a:bodyPr/>
          <a:lstStyle/>
          <a:p>
            <a:fld id="{4B7F9BE2-B59B-40AF-8442-47BAD161B662}" type="slidenum">
              <a:rPr lang="en-US" smtClean="0"/>
              <a:t>9</a:t>
            </a:fld>
            <a:endParaRPr lang="en-US" dirty="0"/>
          </a:p>
        </p:txBody>
      </p:sp>
      <p:sp>
        <p:nvSpPr>
          <p:cNvPr id="13" name="Title 1">
            <a:extLst>
              <a:ext uri="{FF2B5EF4-FFF2-40B4-BE49-F238E27FC236}">
                <a16:creationId xmlns:a16="http://schemas.microsoft.com/office/drawing/2014/main" id="{AC552F05-4030-414D-8C9E-7F9CD7917DE2}"/>
              </a:ext>
            </a:extLst>
          </p:cNvPr>
          <p:cNvSpPr>
            <a:spLocks noGrp="1"/>
          </p:cNvSpPr>
          <p:nvPr>
            <p:ph type="ctrTitle"/>
          </p:nvPr>
        </p:nvSpPr>
        <p:spPr>
          <a:xfrm>
            <a:off x="706571" y="483119"/>
            <a:ext cx="4950517" cy="758662"/>
          </a:xfrm>
        </p:spPr>
        <p:txBody>
          <a:bodyPr>
            <a:normAutofit/>
          </a:bodyPr>
          <a:lstStyle/>
          <a:p>
            <a:pPr algn="just"/>
            <a:r>
              <a:rPr lang="en-US" sz="4800" dirty="0">
                <a:solidFill>
                  <a:srgbClr val="1E477B"/>
                </a:solidFill>
                <a:latin typeface="Times New Roman" panose="02020603050405020304" pitchFamily="18" charset="0"/>
                <a:cs typeface="Times New Roman" panose="02020603050405020304" pitchFamily="18" charset="0"/>
              </a:rPr>
              <a:t>Applications</a:t>
            </a:r>
          </a:p>
        </p:txBody>
      </p:sp>
      <p:sp>
        <p:nvSpPr>
          <p:cNvPr id="14" name="Subtitle 2">
            <a:extLst>
              <a:ext uri="{FF2B5EF4-FFF2-40B4-BE49-F238E27FC236}">
                <a16:creationId xmlns:a16="http://schemas.microsoft.com/office/drawing/2014/main" id="{C8A3B40C-DE8A-4FAA-90CA-A3FE3ED12731}"/>
              </a:ext>
            </a:extLst>
          </p:cNvPr>
          <p:cNvSpPr txBox="1">
            <a:spLocks/>
          </p:cNvSpPr>
          <p:nvPr/>
        </p:nvSpPr>
        <p:spPr>
          <a:xfrm>
            <a:off x="1131573" y="1579431"/>
            <a:ext cx="9749308" cy="40144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200" dirty="0">
                <a:latin typeface="Times New Roman" panose="02020603050405020304" pitchFamily="18" charset="0"/>
                <a:cs typeface="Times New Roman" panose="02020603050405020304" pitchFamily="18" charset="0"/>
              </a:rPr>
              <a:t>It is necessary to ensure that the work you are doing is application-oriented.</a:t>
            </a:r>
          </a:p>
        </p:txBody>
      </p:sp>
      <p:sp>
        <p:nvSpPr>
          <p:cNvPr id="8" name="Date Placeholder 1">
            <a:extLst>
              <a:ext uri="{FF2B5EF4-FFF2-40B4-BE49-F238E27FC236}">
                <a16:creationId xmlns:a16="http://schemas.microsoft.com/office/drawing/2014/main" id="{BF03C7C5-0D04-4975-9DD4-E612F200F7AC}"/>
              </a:ext>
            </a:extLst>
          </p:cNvPr>
          <p:cNvSpPr>
            <a:spLocks noGrp="1"/>
          </p:cNvSpPr>
          <p:nvPr>
            <p:ph type="dt" sz="half" idx="10"/>
          </p:nvPr>
        </p:nvSpPr>
        <p:spPr>
          <a:xfrm>
            <a:off x="464976" y="6421667"/>
            <a:ext cx="4069701" cy="365125"/>
          </a:xfrm>
        </p:spPr>
        <p:txBody>
          <a:bodyPr/>
          <a:lstStyle/>
          <a:p>
            <a:r>
              <a:rPr lang="en-US"/>
              <a:t>FYDP Synopsis Presentation</a:t>
            </a:r>
            <a:endParaRPr lang="en-US" dirty="0"/>
          </a:p>
        </p:txBody>
      </p:sp>
    </p:spTree>
    <p:extLst>
      <p:ext uri="{BB962C8B-B14F-4D97-AF65-F5344CB8AC3E}">
        <p14:creationId xmlns:p14="http://schemas.microsoft.com/office/powerpoint/2010/main" val="301995346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t="30495" r="95477"/>
          <a:stretch/>
        </p:blipFill>
        <p:spPr>
          <a:xfrm>
            <a:off x="-179544" y="0"/>
            <a:ext cx="630306" cy="6857999"/>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54877" y="188954"/>
            <a:ext cx="842171" cy="847135"/>
          </a:xfrm>
          <a:prstGeom prst="rect">
            <a:avLst/>
          </a:prstGeom>
        </p:spPr>
      </p:pic>
      <p:sp>
        <p:nvSpPr>
          <p:cNvPr id="3" name="Slide Number Placeholder 2">
            <a:extLst>
              <a:ext uri="{FF2B5EF4-FFF2-40B4-BE49-F238E27FC236}">
                <a16:creationId xmlns:a16="http://schemas.microsoft.com/office/drawing/2014/main" id="{5F45FAAC-C329-4D41-86EE-F09A19B73ED2}"/>
              </a:ext>
            </a:extLst>
          </p:cNvPr>
          <p:cNvSpPr>
            <a:spLocks noGrp="1"/>
          </p:cNvSpPr>
          <p:nvPr>
            <p:ph type="sldNum" sz="quarter" idx="12"/>
          </p:nvPr>
        </p:nvSpPr>
        <p:spPr>
          <a:xfrm>
            <a:off x="9394370" y="6430998"/>
            <a:ext cx="2743200" cy="365125"/>
          </a:xfrm>
        </p:spPr>
        <p:txBody>
          <a:bodyPr/>
          <a:lstStyle/>
          <a:p>
            <a:fld id="{4B7F9BE2-B59B-40AF-8442-47BAD161B662}" type="slidenum">
              <a:rPr lang="en-US" smtClean="0"/>
              <a:t>10</a:t>
            </a:fld>
            <a:endParaRPr lang="en-US" dirty="0"/>
          </a:p>
        </p:txBody>
      </p:sp>
      <p:sp>
        <p:nvSpPr>
          <p:cNvPr id="13" name="Title 1">
            <a:extLst>
              <a:ext uri="{FF2B5EF4-FFF2-40B4-BE49-F238E27FC236}">
                <a16:creationId xmlns:a16="http://schemas.microsoft.com/office/drawing/2014/main" id="{AC552F05-4030-414D-8C9E-7F9CD7917DE2}"/>
              </a:ext>
            </a:extLst>
          </p:cNvPr>
          <p:cNvSpPr>
            <a:spLocks noGrp="1"/>
          </p:cNvSpPr>
          <p:nvPr>
            <p:ph type="ctrTitle"/>
          </p:nvPr>
        </p:nvSpPr>
        <p:spPr>
          <a:xfrm>
            <a:off x="706572" y="483119"/>
            <a:ext cx="4341290" cy="758662"/>
          </a:xfrm>
        </p:spPr>
        <p:txBody>
          <a:bodyPr>
            <a:normAutofit/>
          </a:bodyPr>
          <a:lstStyle/>
          <a:p>
            <a:pPr algn="just"/>
            <a:r>
              <a:rPr lang="en-US" sz="4800" dirty="0">
                <a:solidFill>
                  <a:srgbClr val="1E477B"/>
                </a:solidFill>
                <a:latin typeface="Times New Roman" panose="02020603050405020304" pitchFamily="18" charset="0"/>
                <a:cs typeface="Times New Roman" panose="02020603050405020304" pitchFamily="18" charset="0"/>
              </a:rPr>
              <a:t>Current Progress</a:t>
            </a:r>
          </a:p>
        </p:txBody>
      </p:sp>
      <p:sp>
        <p:nvSpPr>
          <p:cNvPr id="14" name="Subtitle 2">
            <a:extLst>
              <a:ext uri="{FF2B5EF4-FFF2-40B4-BE49-F238E27FC236}">
                <a16:creationId xmlns:a16="http://schemas.microsoft.com/office/drawing/2014/main" id="{C8A3B40C-DE8A-4FAA-90CA-A3FE3ED12731}"/>
              </a:ext>
            </a:extLst>
          </p:cNvPr>
          <p:cNvSpPr txBox="1">
            <a:spLocks/>
          </p:cNvSpPr>
          <p:nvPr/>
        </p:nvSpPr>
        <p:spPr>
          <a:xfrm>
            <a:off x="1131573" y="1579431"/>
            <a:ext cx="9749308" cy="40144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200" dirty="0">
                <a:latin typeface="Times New Roman" panose="02020603050405020304" pitchFamily="18" charset="0"/>
                <a:cs typeface="Times New Roman" panose="02020603050405020304" pitchFamily="18" charset="0"/>
              </a:rPr>
              <a:t>Add what you have done so far.</a:t>
            </a:r>
          </a:p>
        </p:txBody>
      </p:sp>
      <p:sp>
        <p:nvSpPr>
          <p:cNvPr id="8" name="Date Placeholder 1">
            <a:extLst>
              <a:ext uri="{FF2B5EF4-FFF2-40B4-BE49-F238E27FC236}">
                <a16:creationId xmlns:a16="http://schemas.microsoft.com/office/drawing/2014/main" id="{9ADCB8E8-B246-4243-AE77-04A0D4C9E99B}"/>
              </a:ext>
            </a:extLst>
          </p:cNvPr>
          <p:cNvSpPr>
            <a:spLocks noGrp="1"/>
          </p:cNvSpPr>
          <p:nvPr>
            <p:ph type="dt" sz="half" idx="10"/>
          </p:nvPr>
        </p:nvSpPr>
        <p:spPr>
          <a:xfrm>
            <a:off x="464976" y="6421667"/>
            <a:ext cx="4069701" cy="365125"/>
          </a:xfrm>
        </p:spPr>
        <p:txBody>
          <a:bodyPr/>
          <a:lstStyle/>
          <a:p>
            <a:r>
              <a:rPr lang="en-US"/>
              <a:t>FYDP Synopsis Presentation</a:t>
            </a:r>
            <a:endParaRPr lang="en-US" dirty="0"/>
          </a:p>
        </p:txBody>
      </p:sp>
    </p:spTree>
    <p:extLst>
      <p:ext uri="{BB962C8B-B14F-4D97-AF65-F5344CB8AC3E}">
        <p14:creationId xmlns:p14="http://schemas.microsoft.com/office/powerpoint/2010/main" val="30720959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E5EF06-617E-C853-A6F9-EFEC4B94D79B}"/>
            </a:ext>
          </a:extLst>
        </p:cNvPr>
        <p:cNvGrpSpPr/>
        <p:nvPr/>
      </p:nvGrpSpPr>
      <p:grpSpPr>
        <a:xfrm>
          <a:off x="0" y="0"/>
          <a:ext cx="0" cy="0"/>
          <a:chOff x="0" y="0"/>
          <a:chExt cx="0" cy="0"/>
        </a:xfrm>
      </p:grpSpPr>
      <p:pic>
        <p:nvPicPr>
          <p:cNvPr id="4" name="Picture 3">
            <a:extLst>
              <a:ext uri="{FF2B5EF4-FFF2-40B4-BE49-F238E27FC236}">
                <a16:creationId xmlns:a16="http://schemas.microsoft.com/office/drawing/2014/main" id="{19BCEF61-A4A2-266A-9408-9F5C7E3CAEA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t="30495" r="95477"/>
          <a:stretch/>
        </p:blipFill>
        <p:spPr>
          <a:xfrm>
            <a:off x="-179544" y="0"/>
            <a:ext cx="630306" cy="6857999"/>
          </a:xfrm>
          <a:prstGeom prst="rect">
            <a:avLst/>
          </a:prstGeom>
        </p:spPr>
      </p:pic>
      <p:pic>
        <p:nvPicPr>
          <p:cNvPr id="9" name="Picture 8">
            <a:extLst>
              <a:ext uri="{FF2B5EF4-FFF2-40B4-BE49-F238E27FC236}">
                <a16:creationId xmlns:a16="http://schemas.microsoft.com/office/drawing/2014/main" id="{CFDDD0A6-DCE9-5AE2-22FF-2607D961553B}"/>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54877" y="188954"/>
            <a:ext cx="842171" cy="847135"/>
          </a:xfrm>
          <a:prstGeom prst="rect">
            <a:avLst/>
          </a:prstGeom>
        </p:spPr>
      </p:pic>
      <p:sp>
        <p:nvSpPr>
          <p:cNvPr id="3" name="Slide Number Placeholder 2">
            <a:extLst>
              <a:ext uri="{FF2B5EF4-FFF2-40B4-BE49-F238E27FC236}">
                <a16:creationId xmlns:a16="http://schemas.microsoft.com/office/drawing/2014/main" id="{8827BAFB-9978-6A55-0447-153172BFC165}"/>
              </a:ext>
            </a:extLst>
          </p:cNvPr>
          <p:cNvSpPr>
            <a:spLocks noGrp="1"/>
          </p:cNvSpPr>
          <p:nvPr>
            <p:ph type="sldNum" sz="quarter" idx="12"/>
          </p:nvPr>
        </p:nvSpPr>
        <p:spPr>
          <a:xfrm>
            <a:off x="9394370" y="6430998"/>
            <a:ext cx="2743200" cy="365125"/>
          </a:xfrm>
        </p:spPr>
        <p:txBody>
          <a:bodyPr/>
          <a:lstStyle/>
          <a:p>
            <a:fld id="{4B7F9BE2-B59B-40AF-8442-47BAD161B662}" type="slidenum">
              <a:rPr lang="en-US" smtClean="0"/>
              <a:t>11</a:t>
            </a:fld>
            <a:endParaRPr lang="en-US" dirty="0"/>
          </a:p>
        </p:txBody>
      </p:sp>
      <p:sp>
        <p:nvSpPr>
          <p:cNvPr id="13" name="Title 1">
            <a:extLst>
              <a:ext uri="{FF2B5EF4-FFF2-40B4-BE49-F238E27FC236}">
                <a16:creationId xmlns:a16="http://schemas.microsoft.com/office/drawing/2014/main" id="{4C45D201-25E2-B42D-5201-3A651BEBC2E0}"/>
              </a:ext>
            </a:extLst>
          </p:cNvPr>
          <p:cNvSpPr>
            <a:spLocks noGrp="1"/>
          </p:cNvSpPr>
          <p:nvPr>
            <p:ph type="ctrTitle"/>
          </p:nvPr>
        </p:nvSpPr>
        <p:spPr>
          <a:xfrm>
            <a:off x="706571" y="483119"/>
            <a:ext cx="5389429" cy="758662"/>
          </a:xfrm>
        </p:spPr>
        <p:txBody>
          <a:bodyPr>
            <a:normAutofit fontScale="90000"/>
          </a:bodyPr>
          <a:lstStyle/>
          <a:p>
            <a:pPr algn="just"/>
            <a:r>
              <a:rPr lang="en-US" sz="4800" dirty="0">
                <a:solidFill>
                  <a:srgbClr val="1E477B"/>
                </a:solidFill>
                <a:latin typeface="Times New Roman" panose="02020603050405020304" pitchFamily="18" charset="0"/>
                <a:cs typeface="Times New Roman" panose="02020603050405020304" pitchFamily="18" charset="0"/>
              </a:rPr>
              <a:t>Contribution to SDGs</a:t>
            </a:r>
          </a:p>
        </p:txBody>
      </p:sp>
      <p:sp>
        <p:nvSpPr>
          <p:cNvPr id="14" name="Subtitle 2">
            <a:extLst>
              <a:ext uri="{FF2B5EF4-FFF2-40B4-BE49-F238E27FC236}">
                <a16:creationId xmlns:a16="http://schemas.microsoft.com/office/drawing/2014/main" id="{12C519D7-D308-6275-94A2-3B4051963827}"/>
              </a:ext>
            </a:extLst>
          </p:cNvPr>
          <p:cNvSpPr txBox="1">
            <a:spLocks/>
          </p:cNvSpPr>
          <p:nvPr/>
        </p:nvSpPr>
        <p:spPr>
          <a:xfrm>
            <a:off x="1131573" y="1579431"/>
            <a:ext cx="9749308" cy="40144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200" dirty="0">
                <a:latin typeface="Times New Roman" panose="02020603050405020304" pitchFamily="18" charset="0"/>
                <a:cs typeface="Times New Roman" panose="02020603050405020304" pitchFamily="18" charset="0"/>
              </a:rPr>
              <a:t>Describe how the work proposed in the synopsis aims at contributing to one or more SDGs, the list of which can be found in the template for writing synopsis. Also, mention all the SDGs.</a:t>
            </a:r>
          </a:p>
        </p:txBody>
      </p:sp>
      <p:sp>
        <p:nvSpPr>
          <p:cNvPr id="8" name="Date Placeholder 1">
            <a:extLst>
              <a:ext uri="{FF2B5EF4-FFF2-40B4-BE49-F238E27FC236}">
                <a16:creationId xmlns:a16="http://schemas.microsoft.com/office/drawing/2014/main" id="{956BC96A-5F6E-DC83-ABED-22CE3369D4B0}"/>
              </a:ext>
            </a:extLst>
          </p:cNvPr>
          <p:cNvSpPr>
            <a:spLocks noGrp="1"/>
          </p:cNvSpPr>
          <p:nvPr>
            <p:ph type="dt" sz="half" idx="10"/>
          </p:nvPr>
        </p:nvSpPr>
        <p:spPr>
          <a:xfrm>
            <a:off x="464976" y="6421667"/>
            <a:ext cx="4069701" cy="365125"/>
          </a:xfrm>
        </p:spPr>
        <p:txBody>
          <a:bodyPr/>
          <a:lstStyle/>
          <a:p>
            <a:r>
              <a:rPr lang="en-US"/>
              <a:t>FYDP Synopsis Presentation</a:t>
            </a:r>
            <a:endParaRPr lang="en-US" dirty="0"/>
          </a:p>
        </p:txBody>
      </p:sp>
    </p:spTree>
    <p:extLst>
      <p:ext uri="{BB962C8B-B14F-4D97-AF65-F5344CB8AC3E}">
        <p14:creationId xmlns:p14="http://schemas.microsoft.com/office/powerpoint/2010/main" val="3050349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t="30495" r="95477"/>
          <a:stretch/>
        </p:blipFill>
        <p:spPr>
          <a:xfrm>
            <a:off x="-179544" y="0"/>
            <a:ext cx="630306" cy="6857999"/>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54877" y="188954"/>
            <a:ext cx="842171" cy="847135"/>
          </a:xfrm>
          <a:prstGeom prst="rect">
            <a:avLst/>
          </a:prstGeom>
        </p:spPr>
      </p:pic>
      <p:sp>
        <p:nvSpPr>
          <p:cNvPr id="3" name="Slide Number Placeholder 2">
            <a:extLst>
              <a:ext uri="{FF2B5EF4-FFF2-40B4-BE49-F238E27FC236}">
                <a16:creationId xmlns:a16="http://schemas.microsoft.com/office/drawing/2014/main" id="{5F45FAAC-C329-4D41-86EE-F09A19B73ED2}"/>
              </a:ext>
            </a:extLst>
          </p:cNvPr>
          <p:cNvSpPr>
            <a:spLocks noGrp="1"/>
          </p:cNvSpPr>
          <p:nvPr>
            <p:ph type="sldNum" sz="quarter" idx="12"/>
          </p:nvPr>
        </p:nvSpPr>
        <p:spPr>
          <a:xfrm>
            <a:off x="9394370" y="6430998"/>
            <a:ext cx="2743200" cy="365125"/>
          </a:xfrm>
        </p:spPr>
        <p:txBody>
          <a:bodyPr/>
          <a:lstStyle/>
          <a:p>
            <a:fld id="{4B7F9BE2-B59B-40AF-8442-47BAD161B662}" type="slidenum">
              <a:rPr lang="en-US" smtClean="0"/>
              <a:t>12</a:t>
            </a:fld>
            <a:endParaRPr lang="en-US" dirty="0"/>
          </a:p>
        </p:txBody>
      </p:sp>
      <p:sp>
        <p:nvSpPr>
          <p:cNvPr id="13" name="Title 1">
            <a:extLst>
              <a:ext uri="{FF2B5EF4-FFF2-40B4-BE49-F238E27FC236}">
                <a16:creationId xmlns:a16="http://schemas.microsoft.com/office/drawing/2014/main" id="{AC552F05-4030-414D-8C9E-7F9CD7917DE2}"/>
              </a:ext>
            </a:extLst>
          </p:cNvPr>
          <p:cNvSpPr>
            <a:spLocks noGrp="1"/>
          </p:cNvSpPr>
          <p:nvPr>
            <p:ph type="ctrTitle"/>
          </p:nvPr>
        </p:nvSpPr>
        <p:spPr>
          <a:xfrm>
            <a:off x="706572" y="483119"/>
            <a:ext cx="3052666" cy="758662"/>
          </a:xfrm>
        </p:spPr>
        <p:txBody>
          <a:bodyPr>
            <a:normAutofit/>
          </a:bodyPr>
          <a:lstStyle/>
          <a:p>
            <a:pPr algn="just"/>
            <a:r>
              <a:rPr lang="en-US" sz="4800" dirty="0">
                <a:solidFill>
                  <a:srgbClr val="1E477B"/>
                </a:solidFill>
                <a:latin typeface="Times New Roman" panose="02020603050405020304" pitchFamily="18" charset="0"/>
                <a:cs typeface="Times New Roman" panose="02020603050405020304" pitchFamily="18" charset="0"/>
              </a:rPr>
              <a:t>Gantt Chart</a:t>
            </a:r>
          </a:p>
        </p:txBody>
      </p:sp>
      <p:sp>
        <p:nvSpPr>
          <p:cNvPr id="14" name="Subtitle 2">
            <a:extLst>
              <a:ext uri="{FF2B5EF4-FFF2-40B4-BE49-F238E27FC236}">
                <a16:creationId xmlns:a16="http://schemas.microsoft.com/office/drawing/2014/main" id="{C8A3B40C-DE8A-4FAA-90CA-A3FE3ED12731}"/>
              </a:ext>
            </a:extLst>
          </p:cNvPr>
          <p:cNvSpPr txBox="1">
            <a:spLocks/>
          </p:cNvSpPr>
          <p:nvPr/>
        </p:nvSpPr>
        <p:spPr>
          <a:xfrm>
            <a:off x="1131573" y="1579431"/>
            <a:ext cx="9749308" cy="40144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r>
              <a:rPr lang="en-US" sz="3200" dirty="0">
                <a:latin typeface="Times New Roman" panose="02020603050405020304" pitchFamily="18" charset="0"/>
                <a:cs typeface="Times New Roman" panose="02020603050405020304" pitchFamily="18" charset="0"/>
              </a:rPr>
              <a:t>Structure the project into different modules and add a Gantt chart to describe their implementation.</a:t>
            </a:r>
          </a:p>
        </p:txBody>
      </p:sp>
      <p:sp>
        <p:nvSpPr>
          <p:cNvPr id="8" name="Date Placeholder 1">
            <a:extLst>
              <a:ext uri="{FF2B5EF4-FFF2-40B4-BE49-F238E27FC236}">
                <a16:creationId xmlns:a16="http://schemas.microsoft.com/office/drawing/2014/main" id="{2F95414C-E100-4B01-886D-F3BD9806E14B}"/>
              </a:ext>
            </a:extLst>
          </p:cNvPr>
          <p:cNvSpPr>
            <a:spLocks noGrp="1"/>
          </p:cNvSpPr>
          <p:nvPr>
            <p:ph type="dt" sz="half" idx="10"/>
          </p:nvPr>
        </p:nvSpPr>
        <p:spPr>
          <a:xfrm>
            <a:off x="464976" y="6421667"/>
            <a:ext cx="4069701" cy="365125"/>
          </a:xfrm>
        </p:spPr>
        <p:txBody>
          <a:bodyPr/>
          <a:lstStyle/>
          <a:p>
            <a:r>
              <a:rPr lang="en-US"/>
              <a:t>FYDP Synopsis Presentation</a:t>
            </a:r>
            <a:endParaRPr lang="en-US" dirty="0"/>
          </a:p>
        </p:txBody>
      </p:sp>
    </p:spTree>
    <p:extLst>
      <p:ext uri="{BB962C8B-B14F-4D97-AF65-F5344CB8AC3E}">
        <p14:creationId xmlns:p14="http://schemas.microsoft.com/office/powerpoint/2010/main" val="253496371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cstate="print">
            <a:extLst>
              <a:ext uri="{28A0092B-C50C-407E-A947-70E740481C1C}">
                <a14:useLocalDpi xmlns:a14="http://schemas.microsoft.com/office/drawing/2010/main" val="0"/>
              </a:ext>
            </a:extLst>
          </a:blip>
          <a:srcRect t="30495" r="95477"/>
          <a:stretch/>
        </p:blipFill>
        <p:spPr>
          <a:xfrm>
            <a:off x="-179544" y="0"/>
            <a:ext cx="630306" cy="6857999"/>
          </a:xfrm>
          <a:prstGeom prst="rect">
            <a:avLst/>
          </a:prstGeom>
        </p:spPr>
      </p:pic>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954877" y="188954"/>
            <a:ext cx="842171" cy="847135"/>
          </a:xfrm>
          <a:prstGeom prst="rect">
            <a:avLst/>
          </a:prstGeom>
        </p:spPr>
      </p:pic>
      <p:sp>
        <p:nvSpPr>
          <p:cNvPr id="3" name="Slide Number Placeholder 2">
            <a:extLst>
              <a:ext uri="{FF2B5EF4-FFF2-40B4-BE49-F238E27FC236}">
                <a16:creationId xmlns:a16="http://schemas.microsoft.com/office/drawing/2014/main" id="{5F45FAAC-C329-4D41-86EE-F09A19B73ED2}"/>
              </a:ext>
            </a:extLst>
          </p:cNvPr>
          <p:cNvSpPr>
            <a:spLocks noGrp="1"/>
          </p:cNvSpPr>
          <p:nvPr>
            <p:ph type="sldNum" sz="quarter" idx="12"/>
          </p:nvPr>
        </p:nvSpPr>
        <p:spPr>
          <a:xfrm>
            <a:off x="9394370" y="6430998"/>
            <a:ext cx="2743200" cy="365125"/>
          </a:xfrm>
        </p:spPr>
        <p:txBody>
          <a:bodyPr/>
          <a:lstStyle/>
          <a:p>
            <a:fld id="{4B7F9BE2-B59B-40AF-8442-47BAD161B662}" type="slidenum">
              <a:rPr lang="en-US" smtClean="0"/>
              <a:t>13</a:t>
            </a:fld>
            <a:endParaRPr lang="en-US" dirty="0"/>
          </a:p>
        </p:txBody>
      </p:sp>
      <p:sp>
        <p:nvSpPr>
          <p:cNvPr id="13" name="Title 1">
            <a:extLst>
              <a:ext uri="{FF2B5EF4-FFF2-40B4-BE49-F238E27FC236}">
                <a16:creationId xmlns:a16="http://schemas.microsoft.com/office/drawing/2014/main" id="{AC552F05-4030-414D-8C9E-7F9CD7917DE2}"/>
              </a:ext>
            </a:extLst>
          </p:cNvPr>
          <p:cNvSpPr>
            <a:spLocks noGrp="1"/>
          </p:cNvSpPr>
          <p:nvPr>
            <p:ph type="ctrTitle"/>
          </p:nvPr>
        </p:nvSpPr>
        <p:spPr>
          <a:xfrm>
            <a:off x="706572" y="483119"/>
            <a:ext cx="3052666" cy="758662"/>
          </a:xfrm>
        </p:spPr>
        <p:txBody>
          <a:bodyPr>
            <a:normAutofit/>
          </a:bodyPr>
          <a:lstStyle/>
          <a:p>
            <a:pPr algn="just"/>
            <a:r>
              <a:rPr lang="en-US" sz="4800" dirty="0">
                <a:solidFill>
                  <a:srgbClr val="1E477B"/>
                </a:solidFill>
                <a:latin typeface="Times New Roman" panose="02020603050405020304" pitchFamily="18" charset="0"/>
                <a:cs typeface="Times New Roman" panose="02020603050405020304" pitchFamily="18" charset="0"/>
              </a:rPr>
              <a:t>References</a:t>
            </a:r>
          </a:p>
        </p:txBody>
      </p:sp>
      <p:sp>
        <p:nvSpPr>
          <p:cNvPr id="14" name="Subtitle 2">
            <a:extLst>
              <a:ext uri="{FF2B5EF4-FFF2-40B4-BE49-F238E27FC236}">
                <a16:creationId xmlns:a16="http://schemas.microsoft.com/office/drawing/2014/main" id="{C8A3B40C-DE8A-4FAA-90CA-A3FE3ED12731}"/>
              </a:ext>
            </a:extLst>
          </p:cNvPr>
          <p:cNvSpPr txBox="1">
            <a:spLocks/>
          </p:cNvSpPr>
          <p:nvPr/>
        </p:nvSpPr>
        <p:spPr>
          <a:xfrm>
            <a:off x="1131573" y="1579431"/>
            <a:ext cx="9749308" cy="401447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Research Papers (in proper IEEE format)</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Books</a:t>
            </a:r>
          </a:p>
          <a:p>
            <a:pPr marL="457200" indent="-457200" algn="just">
              <a:buFont typeface="Arial" panose="020B0604020202020204" pitchFamily="34" charset="0"/>
              <a:buChar char="•"/>
            </a:pPr>
            <a:r>
              <a:rPr lang="en-US" sz="3200" dirty="0">
                <a:latin typeface="Times New Roman" panose="02020603050405020304" pitchFamily="18" charset="0"/>
                <a:cs typeface="Times New Roman" panose="02020603050405020304" pitchFamily="18" charset="0"/>
              </a:rPr>
              <a:t>Websites (mention date and time of visit to the website)</a:t>
            </a:r>
          </a:p>
        </p:txBody>
      </p:sp>
      <p:sp>
        <p:nvSpPr>
          <p:cNvPr id="8" name="Date Placeholder 1">
            <a:extLst>
              <a:ext uri="{FF2B5EF4-FFF2-40B4-BE49-F238E27FC236}">
                <a16:creationId xmlns:a16="http://schemas.microsoft.com/office/drawing/2014/main" id="{863EFCCF-8DDF-4081-A425-6C844B71B8C2}"/>
              </a:ext>
            </a:extLst>
          </p:cNvPr>
          <p:cNvSpPr>
            <a:spLocks noGrp="1"/>
          </p:cNvSpPr>
          <p:nvPr>
            <p:ph type="dt" sz="half" idx="10"/>
          </p:nvPr>
        </p:nvSpPr>
        <p:spPr>
          <a:xfrm>
            <a:off x="464976" y="6421667"/>
            <a:ext cx="4069701" cy="365125"/>
          </a:xfrm>
        </p:spPr>
        <p:txBody>
          <a:bodyPr/>
          <a:lstStyle/>
          <a:p>
            <a:r>
              <a:rPr lang="en-US"/>
              <a:t>FYDP Synopsis Presentation</a:t>
            </a:r>
            <a:endParaRPr lang="en-US" dirty="0"/>
          </a:p>
        </p:txBody>
      </p:sp>
    </p:spTree>
    <p:extLst>
      <p:ext uri="{BB962C8B-B14F-4D97-AF65-F5344CB8AC3E}">
        <p14:creationId xmlns:p14="http://schemas.microsoft.com/office/powerpoint/2010/main" val="4030821406"/>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7602</TotalTime>
  <Words>479</Words>
  <Application>Microsoft Office PowerPoint</Application>
  <PresentationFormat>Widescreen</PresentationFormat>
  <Paragraphs>75</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Calibri Light</vt:lpstr>
      <vt:lpstr>Times New Roman</vt:lpstr>
      <vt:lpstr>Office Theme</vt:lpstr>
      <vt:lpstr>Design and Implementation of a RISC-V based Superscalar Processor</vt:lpstr>
      <vt:lpstr>Group Introduction</vt:lpstr>
      <vt:lpstr>Problem Statement</vt:lpstr>
      <vt:lpstr>Motivation</vt:lpstr>
      <vt:lpstr>Literature Review</vt:lpstr>
      <vt:lpstr>Objectives</vt:lpstr>
      <vt:lpstr>Methodology</vt:lpstr>
      <vt:lpstr>Design Constraints</vt:lpstr>
      <vt:lpstr>Applications</vt:lpstr>
      <vt:lpstr>Current Progress</vt:lpstr>
      <vt:lpstr>Contribution to SDGs</vt:lpstr>
      <vt:lpstr>Gantt Chart</vt:lpstr>
      <vt:lpstr>References</vt:lpstr>
    </vt:vector>
  </TitlesOfParts>
  <Company>EED UET Lahore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Department of  Electrical Engineering UET Lahore  Prof. Dr. Tahir Izhar (Chairman)</dc:title>
  <dc:creator>Alinspiron</dc:creator>
  <cp:lastModifiedBy>hp</cp:lastModifiedBy>
  <cp:revision>150</cp:revision>
  <dcterms:created xsi:type="dcterms:W3CDTF">2016-09-27T20:20:47Z</dcterms:created>
  <dcterms:modified xsi:type="dcterms:W3CDTF">2025-10-09T02:27:39Z</dcterms:modified>
</cp:coreProperties>
</file>